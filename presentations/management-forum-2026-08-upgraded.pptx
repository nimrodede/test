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50"/>
  </p:notesMasterIdLst>
  <p:handoutMasterIdLst>
    <p:handoutMasterId r:id="rId51"/>
  </p:handoutMasterIdLst>
  <p:sldIdLst>
    <p:sldId id="313" r:id="rId6"/>
    <p:sldId id="549" r:id="rId56"/>
    <p:sldId id="492" r:id="rId7"/>
    <p:sldId id="493" r:id="rId8"/>
    <p:sldId id="474" r:id="rId9"/>
    <p:sldId id="475" r:id="rId10"/>
    <p:sldId id="543" r:id="rId11"/>
    <p:sldId id="544" r:id="rId12"/>
    <p:sldId id="545" r:id="rId13"/>
    <p:sldId id="546" r:id="rId14"/>
    <p:sldId id="491" r:id="rId15"/>
    <p:sldId id="494" r:id="rId16"/>
    <p:sldId id="495" r:id="rId17"/>
    <p:sldId id="524" r:id="rId18"/>
    <p:sldId id="540" r:id="rId19"/>
    <p:sldId id="541" r:id="rId20"/>
    <p:sldId id="523" r:id="rId21"/>
    <p:sldId id="465" r:id="rId22"/>
    <p:sldId id="522" r:id="rId23"/>
    <p:sldId id="325" r:id="rId24"/>
    <p:sldId id="550" r:id="rId59"/>
    <p:sldId id="496" r:id="rId25"/>
    <p:sldId id="497" r:id="rId26"/>
    <p:sldId id="498" r:id="rId27"/>
    <p:sldId id="502" r:id="rId28"/>
    <p:sldId id="508" r:id="rId29"/>
    <p:sldId id="479" r:id="rId30"/>
    <p:sldId id="533" r:id="rId31"/>
    <p:sldId id="536" r:id="rId32"/>
    <p:sldId id="535" r:id="rId33"/>
    <p:sldId id="481" r:id="rId34"/>
    <p:sldId id="507" r:id="rId35"/>
    <p:sldId id="509" r:id="rId36"/>
    <p:sldId id="512" r:id="rId37"/>
    <p:sldId id="547" r:id="rId38"/>
    <p:sldId id="517" r:id="rId39"/>
    <p:sldId id="490" r:id="rId40"/>
    <p:sldId id="513" r:id="rId41"/>
    <p:sldId id="516" r:id="rId42"/>
    <p:sldId id="520" r:id="rId43"/>
    <p:sldId id="521" r:id="rId44"/>
    <p:sldId id="548" r:id="rId45"/>
    <p:sldId id="538" r:id="rId46"/>
    <p:sldId id="482" r:id="rId47"/>
    <p:sldId id="483" r:id="rId48"/>
    <p:sldId id="542" r:id="rId49"/>
  </p:sldIdLst>
  <p:sldSz cx="24384000" cy="13716000"/>
  <p:notesSz cx="6858000" cy="9926638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74B"/>
    <a:srgbClr val="F57A1D"/>
    <a:srgbClr val="E5F4F9"/>
    <a:srgbClr val="00AFD2"/>
    <a:srgbClr val="0092C3"/>
    <a:srgbClr val="005986"/>
    <a:srgbClr val="006DA4"/>
    <a:srgbClr val="00517A"/>
    <a:srgbClr val="3DABC8"/>
    <a:srgbClr val="589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1200C-DB72-4A77-B4C5-76F0D4E69B07}" v="9" dt="2026-09-21T15:19:10.6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סגנון ביניים 3 - הדגשה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סגנון כהה 2 - הדגשה 5/הדגשה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 autoAdjust="0"/>
    <p:restoredTop sz="91701" autoAdjust="0"/>
  </p:normalViewPr>
  <p:slideViewPr>
    <p:cSldViewPr snapToGrid="0" showGuides="1">
      <p:cViewPr varScale="1">
        <p:scale>
          <a:sx n="53" d="100"/>
          <a:sy n="53" d="100"/>
        </p:scale>
        <p:origin x="804" y="180"/>
      </p:cViewPr>
      <p:guideLst/>
    </p:cSldViewPr>
  </p:slideViewPr>
  <p:notesTextViewPr>
    <p:cViewPr>
      <p:scale>
        <a:sx n="40" d="100"/>
        <a:sy n="40" d="100"/>
      </p:scale>
      <p:origin x="0" y="0"/>
    </p:cViewPr>
  </p:notesTextViewPr>
  <p:sorterViewPr>
    <p:cViewPr>
      <p:scale>
        <a:sx n="50" d="100"/>
        <a:sy n="50" d="100"/>
      </p:scale>
      <p:origin x="0" y="-36256"/>
    </p:cViewPr>
  </p:sorterViewPr>
  <p:notesViewPr>
    <p:cSldViewPr snapToGrid="0" showGuides="1">
      <p:cViewPr varScale="1">
        <p:scale>
          <a:sx n="108" d="100"/>
          <a:sy n="108" d="100"/>
        </p:scale>
        <p:origin x="3272" y="5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51" Type="http://schemas.openxmlformats.org/officeDocument/2006/relationships/handoutMaster" Target="handoutMasters/handout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openxmlformats.org/officeDocument/2006/relationships/slide" Target="slides/slide45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Relationship Id="rId59" Type="http://schemas.openxmlformats.org/officeDocument/2006/relationships/slide" Target="slides/slide4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hl teach" userId="615b93edc2938792" providerId="LiveId" clId="{900C12E4-95C9-4FFC-B2AE-A3327EA015F4}"/>
    <pc:docChg chg="custSel addSld modSld sldOrd">
      <pc:chgData name="rhl teach" userId="615b93edc2938792" providerId="LiveId" clId="{900C12E4-95C9-4FFC-B2AE-A3327EA015F4}" dt="2026-09-21T15:21:24.853" v="50" actId="14100"/>
      <pc:docMkLst>
        <pc:docMk/>
      </pc:docMkLst>
      <pc:sldChg chg="addSp delSp mod modTransition">
        <pc:chgData name="rhl teach" userId="615b93edc2938792" providerId="LiveId" clId="{900C12E4-95C9-4FFC-B2AE-A3327EA015F4}" dt="2026-09-19T07:16:51.416" v="19"/>
        <pc:sldMkLst>
          <pc:docMk/>
          <pc:sldMk cId="801964460" sldId="479"/>
        </pc:sldMkLst>
      </pc:sldChg>
      <pc:sldChg chg="modSp mod">
        <pc:chgData name="rhl teach" userId="615b93edc2938792" providerId="LiveId" clId="{900C12E4-95C9-4FFC-B2AE-A3327EA015F4}" dt="2026-09-19T07:21:08.949" v="29" actId="2711"/>
        <pc:sldMkLst>
          <pc:docMk/>
          <pc:sldMk cId="624562720" sldId="508"/>
        </pc:sldMkLst>
        <pc:spChg chg="mod">
          <ac:chgData name="rhl teach" userId="615b93edc2938792" providerId="LiveId" clId="{900C12E4-95C9-4FFC-B2AE-A3327EA015F4}" dt="2026-09-19T07:19:31.041" v="20" actId="2711"/>
          <ac:spMkLst>
            <pc:docMk/>
            <pc:sldMk cId="624562720" sldId="508"/>
            <ac:spMk id="18" creationId="{827AFBE6-5962-B337-925C-B099E167BE3F}"/>
          </ac:spMkLst>
        </pc:spChg>
        <pc:spChg chg="mod">
          <ac:chgData name="rhl teach" userId="615b93edc2938792" providerId="LiveId" clId="{900C12E4-95C9-4FFC-B2AE-A3327EA015F4}" dt="2026-09-19T07:20:27.903" v="25" actId="2711"/>
          <ac:spMkLst>
            <pc:docMk/>
            <pc:sldMk cId="624562720" sldId="508"/>
            <ac:spMk id="25" creationId="{A519B0A6-134D-96E5-F70F-7124D9A8E969}"/>
          </ac:spMkLst>
        </pc:spChg>
        <pc:spChg chg="mod">
          <ac:chgData name="rhl teach" userId="615b93edc2938792" providerId="LiveId" clId="{900C12E4-95C9-4FFC-B2AE-A3327EA015F4}" dt="2026-09-19T07:20:35.643" v="26" actId="2711"/>
          <ac:spMkLst>
            <pc:docMk/>
            <pc:sldMk cId="624562720" sldId="508"/>
            <ac:spMk id="27" creationId="{BD80720F-4458-661E-9F1A-2B3B488CE47F}"/>
          </ac:spMkLst>
        </pc:spChg>
        <pc:spChg chg="mod">
          <ac:chgData name="rhl teach" userId="615b93edc2938792" providerId="LiveId" clId="{900C12E4-95C9-4FFC-B2AE-A3327EA015F4}" dt="2026-09-19T07:20:49.369" v="27" actId="2711"/>
          <ac:spMkLst>
            <pc:docMk/>
            <pc:sldMk cId="624562720" sldId="508"/>
            <ac:spMk id="29" creationId="{EB9B2C1F-3CD9-5761-C465-C4A61DE33DE6}"/>
          </ac:spMkLst>
        </pc:spChg>
        <pc:spChg chg="mod">
          <ac:chgData name="rhl teach" userId="615b93edc2938792" providerId="LiveId" clId="{900C12E4-95C9-4FFC-B2AE-A3327EA015F4}" dt="2026-09-19T07:20:02.252" v="23" actId="2711"/>
          <ac:spMkLst>
            <pc:docMk/>
            <pc:sldMk cId="624562720" sldId="508"/>
            <ac:spMk id="31" creationId="{5E8646B5-92EC-C5F1-6D91-1659B59CBE82}"/>
          </ac:spMkLst>
        </pc:spChg>
        <pc:spChg chg="mod">
          <ac:chgData name="rhl teach" userId="615b93edc2938792" providerId="LiveId" clId="{900C12E4-95C9-4FFC-B2AE-A3327EA015F4}" dt="2026-09-19T07:21:02.127" v="28" actId="2711"/>
          <ac:spMkLst>
            <pc:docMk/>
            <pc:sldMk cId="624562720" sldId="508"/>
            <ac:spMk id="33" creationId="{1434A0A0-A415-8A54-A0D6-EAB8F2893F62}"/>
          </ac:spMkLst>
        </pc:spChg>
        <pc:spChg chg="mod">
          <ac:chgData name="rhl teach" userId="615b93edc2938792" providerId="LiveId" clId="{900C12E4-95C9-4FFC-B2AE-A3327EA015F4}" dt="2026-09-19T07:19:45.187" v="21" actId="2711"/>
          <ac:spMkLst>
            <pc:docMk/>
            <pc:sldMk cId="624562720" sldId="508"/>
            <ac:spMk id="35" creationId="{4F053191-0646-BFC7-BA9A-A65EAFAC3460}"/>
          </ac:spMkLst>
        </pc:spChg>
        <pc:spChg chg="mod">
          <ac:chgData name="rhl teach" userId="615b93edc2938792" providerId="LiveId" clId="{900C12E4-95C9-4FFC-B2AE-A3327EA015F4}" dt="2026-09-19T07:20:10.365" v="24" actId="2711"/>
          <ac:spMkLst>
            <pc:docMk/>
            <pc:sldMk cId="624562720" sldId="508"/>
            <ac:spMk id="37" creationId="{7C6082B7-C6F6-B567-44DB-69B5FB736A20}"/>
          </ac:spMkLst>
        </pc:spChg>
        <pc:spChg chg="mod">
          <ac:chgData name="rhl teach" userId="615b93edc2938792" providerId="LiveId" clId="{900C12E4-95C9-4FFC-B2AE-A3327EA015F4}" dt="2026-09-19T07:21:08.949" v="29" actId="2711"/>
          <ac:spMkLst>
            <pc:docMk/>
            <pc:sldMk cId="624562720" sldId="508"/>
            <ac:spMk id="39" creationId="{613563CD-FA10-3220-59CC-B74BF91EB6E7}"/>
          </ac:spMkLst>
        </pc:spChg>
      </pc:sldChg>
      <pc:sldChg chg="delSp mod modTransition">
        <pc:chgData name="rhl teach" userId="615b93edc2938792" providerId="LiveId" clId="{900C12E4-95C9-4FFC-B2AE-A3327EA015F4}" dt="2026-09-19T07:08:19.233" v="2"/>
        <pc:sldMkLst>
          <pc:docMk/>
          <pc:sldMk cId="3084361093" sldId="512"/>
        </pc:sldMkLst>
      </pc:sldChg>
      <pc:sldChg chg="addSp modSp mod">
        <pc:chgData name="rhl teach" userId="615b93edc2938792" providerId="LiveId" clId="{900C12E4-95C9-4FFC-B2AE-A3327EA015F4}" dt="2026-09-19T07:26:46.910" v="32" actId="767"/>
        <pc:sldMkLst>
          <pc:docMk/>
          <pc:sldMk cId="2116836924" sldId="513"/>
        </pc:sldMkLst>
        <pc:spChg chg="mod">
          <ac:chgData name="rhl teach" userId="615b93edc2938792" providerId="LiveId" clId="{900C12E4-95C9-4FFC-B2AE-A3327EA015F4}" dt="2026-09-19T07:26:45.632" v="31" actId="207"/>
          <ac:spMkLst>
            <pc:docMk/>
            <pc:sldMk cId="2116836924" sldId="513"/>
            <ac:spMk id="2" creationId="{00000000-0000-0000-0000-000000000000}"/>
          </ac:spMkLst>
        </pc:spChg>
        <pc:spChg chg="add mod">
          <ac:chgData name="rhl teach" userId="615b93edc2938792" providerId="LiveId" clId="{900C12E4-95C9-4FFC-B2AE-A3327EA015F4}" dt="2026-09-19T07:26:46.910" v="32" actId="767"/>
          <ac:spMkLst>
            <pc:docMk/>
            <pc:sldMk cId="2116836924" sldId="513"/>
            <ac:spMk id="6" creationId="{4708C4BF-45A2-136D-43F0-5F4F68456D81}"/>
          </ac:spMkLst>
        </pc:spChg>
        <pc:spChg chg="mod">
          <ac:chgData name="rhl teach" userId="615b93edc2938792" providerId="LiveId" clId="{900C12E4-95C9-4FFC-B2AE-A3327EA015F4}" dt="2026-09-19T07:26:37.035" v="30" actId="14100"/>
          <ac:spMkLst>
            <pc:docMk/>
            <pc:sldMk cId="2116836924" sldId="513"/>
            <ac:spMk id="19" creationId="{F138DB69-5912-12A0-50CF-A970EC25887D}"/>
          </ac:spMkLst>
        </pc:spChg>
      </pc:sldChg>
      <pc:sldChg chg="addSp delSp modSp mod">
        <pc:chgData name="rhl teach" userId="615b93edc2938792" providerId="LiveId" clId="{900C12E4-95C9-4FFC-B2AE-A3327EA015F4}" dt="2026-09-21T15:21:24.853" v="50" actId="14100"/>
        <pc:sldMkLst>
          <pc:docMk/>
          <pc:sldMk cId="1138369839" sldId="517"/>
        </pc:sldMkLst>
        <pc:spChg chg="add del mod">
          <ac:chgData name="rhl teach" userId="615b93edc2938792" providerId="LiveId" clId="{900C12E4-95C9-4FFC-B2AE-A3327EA015F4}" dt="2026-09-21T15:21:08.917" v="46"/>
          <ac:spMkLst>
            <pc:docMk/>
            <pc:sldMk cId="1138369839" sldId="517"/>
            <ac:spMk id="13" creationId="{ADE1E7E1-9DAD-899C-2832-8888976F06CE}"/>
          </ac:spMkLst>
        </pc:spChg>
        <pc:picChg chg="del">
          <ac:chgData name="rhl teach" userId="615b93edc2938792" providerId="LiveId" clId="{900C12E4-95C9-4FFC-B2AE-A3327EA015F4}" dt="2026-09-21T15:18:57.599" v="39" actId="478"/>
          <ac:picMkLst>
            <pc:docMk/>
            <pc:sldMk cId="1138369839" sldId="517"/>
            <ac:picMk id="2" creationId="{00000000-0000-0000-0000-000000000000}"/>
          </ac:picMkLst>
        </pc:picChg>
        <pc:picChg chg="del">
          <ac:chgData name="rhl teach" userId="615b93edc2938792" providerId="LiveId" clId="{900C12E4-95C9-4FFC-B2AE-A3327EA015F4}" dt="2026-09-21T15:21:08.917" v="44" actId="478"/>
          <ac:picMkLst>
            <pc:docMk/>
            <pc:sldMk cId="1138369839" sldId="517"/>
            <ac:picMk id="4" creationId="{00000000-0000-0000-0000-000000000000}"/>
          </ac:picMkLst>
        </pc:picChg>
        <pc:picChg chg="del">
          <ac:chgData name="rhl teach" userId="615b93edc2938792" providerId="LiveId" clId="{900C12E4-95C9-4FFC-B2AE-A3327EA015F4}" dt="2026-09-21T15:21:13.060" v="47" actId="478"/>
          <ac:picMkLst>
            <pc:docMk/>
            <pc:sldMk cId="1138369839" sldId="517"/>
            <ac:picMk id="6" creationId="{00000000-0000-0000-0000-000000000000}"/>
          </ac:picMkLst>
        </pc:picChg>
        <pc:picChg chg="add mod">
          <ac:chgData name="rhl teach" userId="615b93edc2938792" providerId="LiveId" clId="{900C12E4-95C9-4FFC-B2AE-A3327EA015F4}" dt="2026-09-21T15:19:08.859" v="42" actId="14100"/>
          <ac:picMkLst>
            <pc:docMk/>
            <pc:sldMk cId="1138369839" sldId="517"/>
            <ac:picMk id="10" creationId="{3A67BB6B-8509-D3E0-9988-D2D210FDB0AE}"/>
          </ac:picMkLst>
        </pc:picChg>
        <pc:picChg chg="add mod">
          <ac:chgData name="rhl teach" userId="615b93edc2938792" providerId="LiveId" clId="{900C12E4-95C9-4FFC-B2AE-A3327EA015F4}" dt="2026-09-21T15:21:24.853" v="50" actId="14100"/>
          <ac:picMkLst>
            <pc:docMk/>
            <pc:sldMk cId="1138369839" sldId="517"/>
            <ac:picMk id="19" creationId="{67719915-7C6B-9B02-85A9-474CFE882A05}"/>
          </ac:picMkLst>
        </pc:picChg>
      </pc:sldChg>
      <pc:sldChg chg="ord">
        <pc:chgData name="rhl teach" userId="615b93edc2938792" providerId="LiveId" clId="{900C12E4-95C9-4FFC-B2AE-A3327EA015F4}" dt="2026-09-19T07:27:47.645" v="34"/>
        <pc:sldMkLst>
          <pc:docMk/>
          <pc:sldMk cId="677661003" sldId="524"/>
        </pc:sldMkLst>
      </pc:sldChg>
      <pc:sldChg chg="ord">
        <pc:chgData name="rhl teach" userId="615b93edc2938792" providerId="LiveId" clId="{900C12E4-95C9-4FFC-B2AE-A3327EA015F4}" dt="2026-09-19T07:27:50.199" v="36"/>
        <pc:sldMkLst>
          <pc:docMk/>
          <pc:sldMk cId="1632912539" sldId="540"/>
        </pc:sldMkLst>
      </pc:sldChg>
      <pc:sldChg chg="ord">
        <pc:chgData name="rhl teach" userId="615b93edc2938792" providerId="LiveId" clId="{900C12E4-95C9-4FFC-B2AE-A3327EA015F4}" dt="2026-09-19T07:27:52.997" v="38"/>
        <pc:sldMkLst>
          <pc:docMk/>
          <pc:sldMk cId="552552092" sldId="541"/>
        </pc:sldMkLst>
      </pc:sldChg>
      <pc:sldChg chg="addSp delSp modSp add mod">
        <pc:chgData name="rhl teach" userId="615b93edc2938792" providerId="LiveId" clId="{900C12E4-95C9-4FFC-B2AE-A3327EA015F4}" dt="2026-09-19T07:10:16.110" v="13" actId="207"/>
        <pc:sldMkLst>
          <pc:docMk/>
          <pc:sldMk cId="433783811" sldId="547"/>
        </pc:sldMkLst>
        <pc:spChg chg="add mod">
          <ac:chgData name="rhl teach" userId="615b93edc2938792" providerId="LiveId" clId="{900C12E4-95C9-4FFC-B2AE-A3327EA015F4}" dt="2026-09-19T07:10:16.110" v="13" actId="207"/>
          <ac:spMkLst>
            <pc:docMk/>
            <pc:sldMk cId="433783811" sldId="547"/>
            <ac:spMk id="6" creationId="{FE97A78F-8F0C-125B-2E81-58A442DB9B53}"/>
          </ac:spMkLst>
        </pc:spChg>
        <pc:picChg chg="add mod">
          <ac:chgData name="rhl teach" userId="615b93edc2938792" providerId="LiveId" clId="{900C12E4-95C9-4FFC-B2AE-A3327EA015F4}" dt="2026-09-19T07:09:48.530" v="10" actId="1076"/>
          <ac:picMkLst>
            <pc:docMk/>
            <pc:sldMk cId="433783811" sldId="547"/>
            <ac:picMk id="4" creationId="{EF6B30CF-847F-74BD-83E1-AE4D686547E2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15"/>
      <c:rotY val="20"/>
      <c:rAngAx val="1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666666753590107E-2"/>
                  <c:y val="-4.166666790843009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1.5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D2A-477D-896B-1D93B89BD251}"/>
                </c:ext>
              </c:extLst>
            </c:dLbl>
            <c:dLbl>
              <c:idx val="1"/>
              <c:layout>
                <c:manualLayout>
                  <c:x val="-2.222222276031971E-2"/>
                  <c:y val="-4.16666679084300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2A-477D-896B-1D93B89BD251}"/>
                </c:ext>
              </c:extLst>
            </c:dLbl>
            <c:dLbl>
              <c:idx val="2"/>
              <c:layout>
                <c:manualLayout>
                  <c:x val="-1.944444514811039E-2"/>
                  <c:y val="-4.16666679084300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D2A-477D-896B-1D93B89BD251}"/>
                </c:ext>
              </c:extLst>
            </c:dLbl>
            <c:dLbl>
              <c:idx val="3"/>
              <c:layout>
                <c:manualLayout>
                  <c:x val="-1.3888888992369175E-2"/>
                  <c:y val="-4.16666679084300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2A-477D-896B-1D93B89BD2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1" i="0" u="none" strike="noStrike" kern="1200" baseline="0" smtId="4294967295">
                    <a:solidFill>
                      <a:sysClr val="windowText" lastClr="000000"/>
                    </a:solidFill>
                    <a:latin typeface="David" pitchFamily="34" charset="-79"/>
                    <a:ea typeface="+mn-ea"/>
                    <a:cs typeface="David" pitchFamily="34" charset="-79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גניאולוגיה!$A$1:$A$4</c:f>
              <c:strCache>
                <c:ptCount val="4"/>
                <c:pt idx="0">
                  <c:v>9/2026</c:v>
                </c:pt>
                <c:pt idx="1">
                  <c:v>12/2025</c:v>
                </c:pt>
                <c:pt idx="2">
                  <c:v>5/2024</c:v>
                </c:pt>
                <c:pt idx="3">
                  <c:v>3/2023</c:v>
                </c:pt>
              </c:strCache>
            </c:strRef>
          </c:cat>
          <c:val>
            <c:numRef>
              <c:f>גניאולוגיה!$B$1:$B$4</c:f>
              <c:numCache>
                <c:formatCode>General</c:formatCode>
                <c:ptCount val="4"/>
                <c:pt idx="0">
                  <c:v>2.1800000000000002</c:v>
                </c:pt>
                <c:pt idx="1">
                  <c:v>7.7</c:v>
                </c:pt>
                <c:pt idx="2">
                  <c:v>9.5</c:v>
                </c:pt>
                <c:pt idx="3">
                  <c:v>53.8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4-4D2A-477D-896B-1D93B89BD2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619030623"/>
        <c:axId val="1619036863"/>
        <c:axId val="0"/>
      </c:bar3DChart>
      <c:catAx>
        <c:axId val="1619030623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1" i="0" u="none" strike="noStrike" kern="1200" baseline="0" smtId="4294967295">
                <a:solidFill>
                  <a:sysClr val="windowText" lastClr="000000"/>
                </a:solidFill>
                <a:latin typeface="David" pitchFamily="34" charset="-79"/>
                <a:ea typeface="+mn-ea"/>
                <a:cs typeface="David" pitchFamily="34" charset="-79"/>
              </a:defRPr>
            </a:pPr>
            <a:endParaRPr lang="he-IL"/>
          </a:p>
        </c:txPr>
        <c:crossAx val="1619036863"/>
        <c:crosses val="autoZero"/>
        <c:auto val="0"/>
        <c:lblAlgn val="ctr"/>
        <c:lblOffset val="100"/>
        <c:noMultiLvlLbl val="0"/>
      </c:catAx>
      <c:valAx>
        <c:axId val="1619036863"/>
        <c:scaling>
          <c:orientation val="minMax"/>
        </c:scaling>
        <c:delete val="1"/>
        <c:axPos val="r"/>
        <c:numFmt formatCode="General" sourceLinked="1"/>
        <c:majorTickMark val="none"/>
        <c:minorTickMark val="none"/>
        <c:tickLblPos val="nextTo"/>
        <c:crossAx val="1619030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15"/>
      <c:rotY val="20"/>
      <c:rAngAx val="1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bar3DChart>
        <c:barDir val="col"/>
        <c:grouping val="standar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1858265399932861E-2"/>
                  <c:y val="-7.537239789962768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400" b="1" i="0" u="none" strike="noStrike" kern="1200" baseline="0" smtId="4294967295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39.1</a:t>
                    </a:r>
                  </a:p>
                </c:rich>
              </c:tx>
              <c:spPr>
                <a:solidFill>
                  <a:srgbClr val="FFFF00"/>
                </a:solidFill>
                <a:ln>
                  <a:solidFill>
                    <a:schemeClr val="tx1"/>
                  </a:solidFill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3FC-43ED-A0EB-97E7EE528F72}"/>
                </c:ext>
              </c:extLst>
            </c:dLbl>
            <c:dLbl>
              <c:idx val="1"/>
              <c:layout>
                <c:manualLayout>
                  <c:x val="-1.8626017495989799E-2"/>
                  <c:y val="-5.94846531748771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FC-43ED-A0EB-97E7EE528F72}"/>
                </c:ext>
              </c:extLst>
            </c:dLbl>
            <c:dLbl>
              <c:idx val="2"/>
              <c:layout>
                <c:manualLayout>
                  <c:x val="-2.3201743140816689E-2"/>
                  <c:y val="-4.82608675956726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3FC-43ED-A0EB-97E7EE528F72}"/>
                </c:ext>
              </c:extLst>
            </c:dLbl>
            <c:dLbl>
              <c:idx val="3"/>
              <c:layout>
                <c:manualLayout>
                  <c:x val="-2.6141462847590446E-2"/>
                  <c:y val="-6.013376638293266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1.5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FC-43ED-A0EB-97E7EE528F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 smtId="4294967295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גרף!$A$1:$D$1</c:f>
              <c:strCache>
                <c:ptCount val="4"/>
                <c:pt idx="0">
                  <c:v>סה"כ יתרות בצינור הרכש </c:v>
                </c:pt>
                <c:pt idx="1">
                  <c:v>10/2026-12/2027</c:v>
                </c:pt>
                <c:pt idx="2">
                  <c:v>1/2026-9/2026</c:v>
                </c:pt>
                <c:pt idx="3">
                  <c:v>1/2008-12/2025</c:v>
                </c:pt>
              </c:strCache>
            </c:strRef>
          </c:cat>
          <c:val>
            <c:numRef>
              <c:f>גרף!$A$2:$D$2</c:f>
              <c:numCache>
                <c:formatCode>General</c:formatCode>
                <c:ptCount val="4"/>
                <c:pt idx="0">
                  <c:v>39.85</c:v>
                </c:pt>
                <c:pt idx="1">
                  <c:v>28</c:v>
                </c:pt>
                <c:pt idx="2">
                  <c:v>9.6</c:v>
                </c:pt>
                <c:pt idx="3">
                  <c:v>2.1800000000000002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4-D3FC-43ED-A0EB-97E7EE528F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832577456"/>
        <c:axId val="832580336"/>
        <c:axId val="894299136"/>
      </c:bar3DChart>
      <c:catAx>
        <c:axId val="83257745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 smtId="4294967295">
                <a:solidFill>
                  <a:sysClr val="windowText" lastClr="000000"/>
                </a:solidFill>
                <a:latin typeface="David" pitchFamily="34" charset="-79"/>
                <a:ea typeface="+mn-ea"/>
                <a:cs typeface="David" pitchFamily="34" charset="-79"/>
              </a:defRPr>
            </a:pPr>
            <a:endParaRPr lang="he-IL"/>
          </a:p>
        </c:txPr>
        <c:crossAx val="832580336"/>
        <c:crosses val="autoZero"/>
        <c:auto val="0"/>
        <c:lblAlgn val="ctr"/>
        <c:lblOffset val="100"/>
        <c:noMultiLvlLbl val="0"/>
      </c:catAx>
      <c:valAx>
        <c:axId val="832580336"/>
        <c:scaling>
          <c:orientation val="minMax"/>
        </c:scaling>
        <c:delete val="1"/>
        <c:axPos val="r"/>
        <c:numFmt formatCode="General" sourceLinked="1"/>
        <c:majorTickMark val="none"/>
        <c:minorTickMark val="none"/>
        <c:tickLblPos val="nextTo"/>
        <c:crossAx val="832577456"/>
        <c:crosses val="autoZero"/>
        <c:crossBetween val="between"/>
      </c:valAx>
      <c:serAx>
        <c:axId val="894299136"/>
        <c:scaling>
          <c:orientation val="minMax"/>
        </c:scaling>
        <c:delete val="1"/>
        <c:axPos val="b"/>
        <c:majorTickMark val="none"/>
        <c:minorTickMark val="none"/>
        <c:tickLblPos val="nextTo"/>
        <c:crossAx val="832580336"/>
        <c:crosses val="autoZero"/>
      </c:ser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28575" cap="flat" cmpd="sng" algn="ctr">
      <a:noFill/>
      <a:round/>
    </a:ln>
    <a:effectLst/>
  </c:spPr>
  <c:txPr>
    <a:bodyPr/>
    <a:lstStyle/>
    <a:p>
      <a:pPr>
        <a:defRPr/>
      </a:pPr>
      <a:endParaRPr lang="he-IL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6368394494056702E-2"/>
          <c:y val="1.0307077318429947E-2"/>
          <c:w val="0.97363162040710449"/>
          <c:h val="0.947408497333526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דוחות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A5C8F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3F13-4256-B96C-F4B166A61816}"/>
              </c:ext>
            </c:extLst>
          </c:dPt>
          <c:dPt>
            <c:idx val="2"/>
            <c:invertIfNegative val="0"/>
            <c:bubble3D val="0"/>
            <c:spPr>
              <a:solidFill>
                <a:srgbClr val="0092C3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3F13-4256-B96C-F4B166A61816}"/>
              </c:ext>
            </c:extLst>
          </c:dPt>
          <c:dPt>
            <c:idx val="3"/>
            <c:invertIfNegative val="0"/>
            <c:bubble3D val="0"/>
            <c:spPr>
              <a:solidFill>
                <a:srgbClr val="00CCD7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5-3F13-4256-B96C-F4B166A61816}"/>
              </c:ext>
            </c:extLst>
          </c:dPt>
          <c:dPt>
            <c:idx val="0"/>
            <c:spPr>
              <a:solidFill>
                <a:srgbClr val="0B1F44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E0502060401010101" pitchFamily="34" charset="-79"/>
                    <a:ea typeface="+mn-ea"/>
                    <a:cs typeface="David" panose="020E0502060401010101" pitchFamily="34" charset="-79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סך הכל נושאי ביקורת</c:v>
                </c:pt>
                <c:pt idx="1">
                  <c:v>סך הכל דוחות טיוטה</c:v>
                </c:pt>
                <c:pt idx="2">
                  <c:v>סך הכל דוחות סופיים</c:v>
                </c:pt>
                <c:pt idx="3">
                  <c:v>דוחות סופיים עם משימונים לרח"ל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25</c:v>
                </c:pt>
                <c:pt idx="2">
                  <c:v>16</c:v>
                </c:pt>
                <c:pt idx="3">
                  <c:v>15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6-3F13-4256-B96C-F4B166A61816}"/>
            </c:ext>
          </c:extLst>
        </c:ser>
        <c:dLbls>
          <c:numFmt formatCode="0" sourceLinked="0"/>
          <c:txPr>
            <a:bodyPr/>
            <a:lstStyle/>
            <a:p>
              <a:pPr>
                <a:defRPr sz="3600" b="1">
                  <a:solidFill>
                    <a:srgbClr val="0B1B33"/>
                  </a:solidFill>
                  <a:latin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982927168"/>
        <c:axId val="982938688"/>
      </c:barChart>
      <c:catAx>
        <c:axId val="982927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rgbClr val="DDE4EE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 smtId="4294967295">
                <a:solidFill>
                  <a:srgbClr val="0B1B33"/>
                </a:solidFill>
                <a:latin typeface="Arial" panose="020E0502060401010101" pitchFamily="34" charset="-79"/>
                <a:ea typeface="+mn-ea"/>
                <a:cs typeface="David" panose="020E0502060401010101" pitchFamily="34" charset="-79"/>
              </a:defRPr>
            </a:pPr>
            <a:endParaRPr lang="he-IL"/>
          </a:p>
        </c:txPr>
        <c:crossAx val="982938688"/>
        <c:crosses val="autoZero"/>
        <c:auto val="0"/>
        <c:lblAlgn val="ctr"/>
        <c:lblOffset val="100"/>
        <c:noMultiLvlLbl val="0"/>
      </c:catAx>
      <c:valAx>
        <c:axId val="982938688"/>
        <c:scaling>
          <c:orientation val="minMax"/>
        </c:scaling>
        <c:delete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+mn-cs"/>
              </a:defRPr>
            </a:pPr>
            <a:endParaRPr lang="he-IL"/>
          </a:p>
        </c:txPr>
        <c:crossAx val="982927168"/>
        <c:crosses val="autoZero"/>
        <c:crossBetween val="between"/>
      </c:valAx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/>
          <a:cs typeface="Arial"/>
        </a:defRPr>
      </a:pPr>
      <a:endParaRPr lang="he-IL"/>
    </a:p>
  </c:txPr>
  <c:externalData r:id="rId2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DCF6F-D47A-4251-A947-55C6E670AA80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863C0-3C0C-4227-829A-BB3F7A60FC6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4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76A4C8-D79E-4F07-A1E7-71E24EC0BB7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E9774-26C6-4288-8776-D66481D44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9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E9774-26C6-4288-8776-D66481D447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97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E9774-26C6-4288-8776-D66481D4471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9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4E9774-26C6-4288-8776-D66481D4471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93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המספרים בשקף מחושבים מתוך שקפי המצגת: טבלת בקרת המשימות (9 משימות), גרף יציבות הפעילות (6 חדש, 6 הוזז, 3 בוטל, 1 נוסף), שקף סטטוס העמ"טים (4) וגרף דוחות מבקר המדינה (31/25/16/15).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משימה 6 – נוסח מלא: הדיון התקיים ולהלן ההחלטות : קורס קנמ"ח – שמוליק קלמי. את קורס יסודות המל"ח ינהל שלומי רוסנו. קורס השתלמות ניהול משברי סייבר ינהל – יוסי שפירא. השתלמות ניהול חדר מצב וקורס ימ"ר –איציק גיא. קורס יקל"מ – כפיר אוחנה. תחקיר והפקת לקחים – גל גלבוע. קורס ניהול לעובדי רח"ל  -ינהל ר' רח"ל.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3993964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717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icture a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192000" y="0"/>
            <a:ext cx="12192000" cy="13716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4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6"/>
          <p:cNvSpPr>
            <a:spLocks noGrp="1"/>
          </p:cNvSpPr>
          <p:nvPr>
            <p:ph type="title"/>
          </p:nvPr>
        </p:nvSpPr>
        <p:spPr>
          <a:xfrm>
            <a:off x="1676400" y="663804"/>
            <a:ext cx="9055100" cy="230046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676400" y="3286425"/>
            <a:ext cx="90551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141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icture a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13716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4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Oval 2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" name="Title 6"/>
          <p:cNvSpPr>
            <a:spLocks noGrp="1"/>
          </p:cNvSpPr>
          <p:nvPr>
            <p:ph type="title"/>
          </p:nvPr>
        </p:nvSpPr>
        <p:spPr>
          <a:xfrm>
            <a:off x="13652500" y="663803"/>
            <a:ext cx="9055100" cy="116309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3652500" y="1893612"/>
            <a:ext cx="90551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5781867" y="12846998"/>
            <a:ext cx="586297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652500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2372063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945463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34244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5538096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854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76400" y="3505200"/>
            <a:ext cx="5019241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006665" y="3505200"/>
            <a:ext cx="5019241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2336930" y="3505200"/>
            <a:ext cx="5019241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667195" y="3505200"/>
            <a:ext cx="5019241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820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76399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943598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0210799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4478000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8734085" y="3505200"/>
            <a:ext cx="3962399" cy="5003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61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Servic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76399" y="3073400"/>
            <a:ext cx="10343283" cy="564856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353201" y="3073400"/>
            <a:ext cx="10343283" cy="564856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244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Servic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76400" y="3073400"/>
            <a:ext cx="6781800" cy="6515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5925800" y="3073400"/>
            <a:ext cx="6781800" cy="6515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801100" y="3073400"/>
            <a:ext cx="6781800" cy="6515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3478917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ortfoli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676399" y="3073400"/>
            <a:ext cx="10343283" cy="7306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Oval 16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353201" y="3073400"/>
            <a:ext cx="10343283" cy="7306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6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255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ortfoli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676400" y="3064747"/>
            <a:ext cx="6737489" cy="5016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5958995" y="3064747"/>
            <a:ext cx="6737489" cy="5016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823256" y="6949552"/>
            <a:ext cx="6737489" cy="50165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Oval 14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17" name="Straight Connector 16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4096487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duct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5914077" y="3064747"/>
            <a:ext cx="6793523" cy="758650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3" name="Oval 32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4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676399" y="3064747"/>
            <a:ext cx="6793523" cy="758650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795238" y="3064747"/>
            <a:ext cx="6793523" cy="758650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079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duct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4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676401" y="3064747"/>
            <a:ext cx="5035172" cy="760660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008410" y="3064747"/>
            <a:ext cx="5035172" cy="760660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2340419" y="3064747"/>
            <a:ext cx="5035172" cy="760660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17672428" y="3064747"/>
            <a:ext cx="5035172" cy="760660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169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ducts in i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0216" y="2870200"/>
            <a:ext cx="6110332" cy="10698294"/>
          </a:xfrm>
          <a:prstGeom prst="rect">
            <a:avLst/>
          </a:prstGeom>
        </p:spPr>
      </p:pic>
      <p:sp>
        <p:nvSpPr>
          <p:cNvPr id="33" name="Oval 32"/>
          <p:cNvSpPr/>
          <p:nvPr userDrawn="1"/>
        </p:nvSpPr>
        <p:spPr>
          <a:xfrm>
            <a:off x="22098000" y="12507273"/>
            <a:ext cx="679450" cy="6794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4" name="Title 6"/>
          <p:cNvSpPr>
            <a:spLocks noGrp="1"/>
          </p:cNvSpPr>
          <p:nvPr>
            <p:ph type="title"/>
          </p:nvPr>
        </p:nvSpPr>
        <p:spPr>
          <a:xfrm>
            <a:off x="1676400" y="663803"/>
            <a:ext cx="21031200" cy="1163097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ct val="100000"/>
              </a:lnSpc>
              <a:defRPr sz="7400" b="0" cap="none" spc="10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22156734" y="12666023"/>
            <a:ext cx="53975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BD8018E6-5008-4D09-8834-2943DEA75A3D}" type="slidenum">
              <a:rPr lang="en-US" sz="2200" b="1" smtClean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2200" b="1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1676400" y="1855512"/>
            <a:ext cx="21031200" cy="44450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ctr">
              <a:lnSpc>
                <a:spcPct val="100000"/>
              </a:lnSpc>
              <a:buFontTx/>
              <a:buNone/>
              <a:defRPr sz="280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9144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8288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27432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3657600" indent="0" algn="ctr">
              <a:lnSpc>
                <a:spcPct val="100000"/>
              </a:lnSpc>
              <a:buFontTx/>
              <a:buNone/>
              <a:defRPr sz="26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 flipH="1">
            <a:off x="3905486" y="12846998"/>
            <a:ext cx="1773936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1679568" y="12652549"/>
            <a:ext cx="23717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200" b="0" cap="none" spc="0" baseline="0" dirty="0">
                <a:solidFill>
                  <a:schemeClr val="accent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</a:t>
            </a:r>
            <a:r>
              <a:rPr lang="en-US" sz="2200" b="0" cap="none" spc="0" baseline="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Plan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825750" y="4565650"/>
            <a:ext cx="3848100" cy="6642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5011" y="2870200"/>
            <a:ext cx="6110332" cy="10698294"/>
          </a:xfrm>
          <a:prstGeom prst="rect">
            <a:avLst/>
          </a:prstGeom>
        </p:spPr>
      </p:pic>
      <p:sp>
        <p:nvSpPr>
          <p:cNvPr id="19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350545" y="4565650"/>
            <a:ext cx="3848100" cy="66421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25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Products in Mac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377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4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indent="0" algn="ctr" defTabSz="1828800" rtl="1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244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1056">
          <p15:clr>
            <a:srgbClr val="FBAE40"/>
          </p15:clr>
        </p15:guide>
        <p15:guide id="2" pos="14304">
          <p15:clr>
            <a:srgbClr val="FBAE40"/>
          </p15:clr>
        </p15:guide>
        <p15:guide id="3" orient="horz" pos="792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57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3" r:id="rId3"/>
    <p:sldLayoutId id="2147483691" r:id="rId4"/>
    <p:sldLayoutId id="2147483700" r:id="rId5"/>
    <p:sldLayoutId id="2147483701" r:id="rId6"/>
    <p:sldLayoutId id="2147483699" r:id="rId7"/>
    <p:sldLayoutId id="2147483693" r:id="rId8"/>
    <p:sldLayoutId id="2147483692" r:id="rId9"/>
    <p:sldLayoutId id="2147483698" r:id="rId10"/>
    <p:sldLayoutId id="2147483696" r:id="rId11"/>
    <p:sldLayoutId id="2147483694" r:id="rId12"/>
    <p:sldLayoutId id="2147483697" r:id="rId13"/>
    <p:sldLayoutId id="2147483702" r:id="rId14"/>
    <p:sldLayoutId id="2147483703" r:id="rId15"/>
    <p:sldLayoutId id="2147483689" r:id="rId16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4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slide" Target="slide11.xml"/><Relationship Id="rId7" Type="http://schemas.openxmlformats.org/officeDocument/2006/relationships/image" Target="../media/image44.png"/><Relationship Id="rId8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31.xml"/><Relationship Id="rId5" Type="http://schemas.openxmlformats.org/officeDocument/2006/relationships/slide" Target="slide20.xml"/><Relationship Id="rId6" Type="http://schemas.openxmlformats.org/officeDocument/2006/relationships/slide" Target="slide42.xml"/><Relationship Id="rId7" Type="http://schemas.openxmlformats.org/officeDocument/2006/relationships/slide" Target="slide34.xml"/><Relationship Id="rId8" Type="http://schemas.openxmlformats.org/officeDocument/2006/relationships/slide" Target="slide25.xml"/><Relationship Id="rId9" Type="http://schemas.openxmlformats.org/officeDocument/2006/relationships/slide" Target="slide24.xml"/><Relationship Id="rId10" Type="http://schemas.openxmlformats.org/officeDocument/2006/relationships/slide" Target="slide30.xml"/><Relationship Id="rId11" Type="http://schemas.openxmlformats.org/officeDocument/2006/relationships/slide" Target="slide32.xml"/><Relationship Id="rId12" Type="http://schemas.openxmlformats.org/officeDocument/2006/relationships/slide" Target="slide37.xml"/><Relationship Id="rId13" Type="http://schemas.openxmlformats.org/officeDocument/2006/relationships/slide" Target="slide39.xml"/><Relationship Id="rId14" Type="http://schemas.openxmlformats.org/officeDocument/2006/relationships/slide" Target="slide35.xml"/><Relationship Id="rId15" Type="http://schemas.openxmlformats.org/officeDocument/2006/relationships/slide" Target="slide36.xml"/><Relationship Id="rId16" Type="http://schemas.openxmlformats.org/officeDocument/2006/relationships/slide" Target="slide44.xml"/><Relationship Id="rId17" Type="http://schemas.openxmlformats.org/officeDocument/2006/relationships/image" Target="../media/image4.png"/><Relationship Id="rId18" Type="http://schemas.openxmlformats.org/officeDocument/2006/relationships/image" Target="../media/image3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Relationship Id="rId21" Type="http://schemas.openxmlformats.org/officeDocument/2006/relationships/image" Target="../media/image51.png"/><Relationship Id="rId22" Type="http://schemas.openxmlformats.org/officeDocument/2006/relationships/image" Target="../media/image52.png"/><Relationship Id="rId23" Type="http://schemas.openxmlformats.org/officeDocument/2006/relationships/image" Target="../media/image53.png"/><Relationship Id="rId24" Type="http://schemas.openxmlformats.org/officeDocument/2006/relationships/image" Target="../media/image47.png"/><Relationship Id="rId25" Type="http://schemas.openxmlformats.org/officeDocument/2006/relationships/image" Target="../media/image46.png"/><Relationship Id="rId26" Type="http://schemas.openxmlformats.org/officeDocument/2006/relationships/image" Target="../media/image48.png"/><Relationship Id="rId27" Type="http://schemas.openxmlformats.org/officeDocument/2006/relationships/image" Target="../media/image54.png"/><Relationship Id="rId28" Type="http://schemas.openxmlformats.org/officeDocument/2006/relationships/image" Target="../media/image55.png"/><Relationship Id="rId29" Type="http://schemas.openxmlformats.org/officeDocument/2006/relationships/image" Target="../media/image56.png"/><Relationship Id="rId30" Type="http://schemas.openxmlformats.org/officeDocument/2006/relationships/image" Target="../media/image57.png"/><Relationship Id="rId31" Type="http://schemas.openxmlformats.org/officeDocument/2006/relationships/image" Target="../media/image5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slide" Target="slide11.xml"/><Relationship Id="rId7" Type="http://schemas.openxmlformats.org/officeDocument/2006/relationships/image" Target="../media/image44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4.png"/><Relationship Id="rId13" Type="http://schemas.openxmlformats.org/officeDocument/2006/relationships/image" Target="../media/image3.png"/><Relationship Id="rId14" Type="http://schemas.openxmlformats.org/officeDocument/2006/relationships/slide" Target="slide11.xml"/><Relationship Id="rId15" Type="http://schemas.openxmlformats.org/officeDocument/2006/relationships/image" Target="../media/image4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chart" Target="../charts/chart1.xml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chart" Target="../charts/chart2.xml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image" Target="../media/image24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" Target="slide11.xml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Relationship Id="rId9" Type="http://schemas.openxmlformats.org/officeDocument/2006/relationships/image" Target="../media/image6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image" Target="../media/image29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image" Target="../media/image30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slide" Target="slide11.xml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chart" Target="../charts/chart3.xml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image" Target="../media/image32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4.png"/><Relationship Id="rId8" Type="http://schemas.openxmlformats.org/officeDocument/2006/relationships/image" Target="../media/image3.png"/><Relationship Id="rId9" Type="http://schemas.openxmlformats.org/officeDocument/2006/relationships/image" Target="../media/image4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image" Target="../media/image3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image" Target="../media/image36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slide" Target="slide11.xml"/><Relationship Id="rId7" Type="http://schemas.openxmlformats.org/officeDocument/2006/relationships/image" Target="../media/image44.png"/><Relationship Id="rId8" Type="http://schemas.openxmlformats.org/officeDocument/2006/relationships/image" Target="../media/image54.png"/><Relationship Id="rId9" Type="http://schemas.openxmlformats.org/officeDocument/2006/relationships/image" Target="../media/image52.png"/><Relationship Id="rId10" Type="http://schemas.openxmlformats.org/officeDocument/2006/relationships/image" Target="../media/image6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image" Target="../media/image37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slide" Target="slide11.xml"/><Relationship Id="rId7" Type="http://schemas.openxmlformats.org/officeDocument/2006/relationships/image" Target="../media/image44.png"/><Relationship Id="rId8" Type="http://schemas.openxmlformats.org/officeDocument/2006/relationships/image" Target="../media/image48.png"/><Relationship Id="rId9" Type="http://schemas.openxmlformats.org/officeDocument/2006/relationships/image" Target="../media/image47.png"/><Relationship Id="rId10" Type="http://schemas.openxmlformats.org/officeDocument/2006/relationships/image" Target="../media/image69.png"/><Relationship Id="rId11" Type="http://schemas.openxmlformats.org/officeDocument/2006/relationships/image" Target="../media/image6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slide" Target="slide11.xml"/><Relationship Id="rId7" Type="http://schemas.openxmlformats.org/officeDocument/2006/relationships/image" Target="../media/image44.png"/><Relationship Id="rId8" Type="http://schemas.openxmlformats.org/officeDocument/2006/relationships/image" Target="../media/image50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44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6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8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slide" Target="slide11.xml"/><Relationship Id="rId8" Type="http://schemas.openxmlformats.org/officeDocument/2006/relationships/image" Target="../media/image4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9.png"/><Relationship Id="rId5" Type="http://schemas.openxmlformats.org/officeDocument/2006/relationships/slide" Target="slide11.xml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" Target="slide11.xml"/><Relationship Id="rId5" Type="http://schemas.openxmlformats.org/officeDocument/2006/relationships/image" Target="../media/image40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slide" Target="slide11.xml"/><Relationship Id="rId5" Type="http://schemas.openxmlformats.org/officeDocument/2006/relationships/image" Target="../media/image44.png"/><Relationship Id="rId6" Type="http://schemas.openxmlformats.org/officeDocument/2006/relationships/slide" Target="slide2.xml"/><Relationship Id="rId7" Type="http://schemas.openxmlformats.org/officeDocument/2006/relationships/slide" Target="slide6.xml"/><Relationship Id="rId8" Type="http://schemas.openxmlformats.org/officeDocument/2006/relationships/slide" Target="slide10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slide" Target="slide24.xml"/><Relationship Id="rId16" Type="http://schemas.openxmlformats.org/officeDocument/2006/relationships/image" Target="../media/image47.png"/><Relationship Id="rId17" Type="http://schemas.openxmlformats.org/officeDocument/2006/relationships/slide" Target="slide32.xml"/><Relationship Id="rId18" Type="http://schemas.openxmlformats.org/officeDocument/2006/relationships/image" Target="../media/image48.png"/><Relationship Id="rId19" Type="http://schemas.openxmlformats.org/officeDocument/2006/relationships/notesSlide" Target="../notesSlides/notesSlide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slide" Target="slide11.xml"/><Relationship Id="rId6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4384305" cy="1371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812305" y="685800"/>
            <a:ext cx="3749040" cy="16002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23785" y="868680"/>
            <a:ext cx="1234440" cy="1234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2545" y="868680"/>
            <a:ext cx="934044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2926080"/>
            <a:ext cx="20818145" cy="7863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ct val="95000"/>
              </a:lnSpc>
              <a:spcAft>
                <a:spcPts val="1400"/>
              </a:spcAft>
            </a:pPr>
            <a:r>
              <a:rPr sz="3000" b="1" lang="he-IL">
                <a:solidFill>
                  <a:srgbClr val="00CCD7"/>
                </a:solidFill>
                <a:latin typeface="Arial"/>
                <a:cs typeface="Arial"/>
              </a:rPr>
              <a:t>פורום הנהלה</a:t>
            </a:r>
          </a:p>
          <a:p>
            <a:pPr algn="r" rtl="1">
              <a:lnSpc>
                <a:spcPct val="95000"/>
              </a:lnSpc>
              <a:spcAft>
                <a:spcPts val="1800"/>
              </a:spcAft>
            </a:pPr>
            <a:r>
              <a:rPr sz="11000" b="1" lang="he-IL">
                <a:solidFill>
                  <a:srgbClr val="FFFFFF"/>
                </a:solidFill>
                <a:latin typeface="Arial"/>
                <a:cs typeface="Arial"/>
              </a:rPr>
              <a:t>סיכום חודש 8/2026</a:t>
            </a:r>
          </a:p>
          <a:p>
            <a:pPr algn="r" rtl="1">
              <a:lnSpc>
                <a:spcPct val="95000"/>
              </a:lnSpc>
            </a:pPr>
            <a:r>
              <a:rPr sz="3600" b="0" lang="he-IL">
                <a:solidFill>
                  <a:srgbClr val="CFE9F2"/>
                </a:solidFill>
                <a:latin typeface="Arial"/>
                <a:cs typeface="Arial"/>
              </a:rPr>
              <a:t>חטיבת התכנון  ·  ספטמבר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0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ספטמבר 2026</a:t>
            </a:r>
          </a:p>
        </p:txBody>
      </p:sp>
    </p:spTree>
    <p:extLst>
      <p:ext uri="{BB962C8B-B14F-4D97-AF65-F5344CB8AC3E}">
        <p14:creationId xmlns:p14="http://schemas.microsoft.com/office/powerpoint/2010/main" val="381969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מלבן 5"/>
          <p:cNvSpPr/>
          <p:nvPr/>
        </p:nvSpPr>
        <p:spPr>
          <a:xfrm>
            <a:off x="6938796" y="11782903"/>
            <a:ext cx="14638899" cy="234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7"/>
          <p:cNvSpPr/>
          <p:nvPr/>
        </p:nvSpPr>
        <p:spPr>
          <a:xfrm>
            <a:off x="6938796" y="11797946"/>
            <a:ext cx="14638899" cy="294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86" y="2423160"/>
            <a:ext cx="21317133" cy="969264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01  ·  ציר זמן שנתי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גרף עוגנים מרכזיים לשנת 2026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עדכון מס'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6" name="TextBox 25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7" name="Rounded Rectangle 26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2442897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452" y="2423160"/>
            <a:ext cx="17925401" cy="969264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01  ·  ציר זמן שנתי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לוח פעילות – אוגוסט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4" name="TextBox 23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7" name="TextBox 26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60895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תמונה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492" y="2423160"/>
            <a:ext cx="17971320" cy="969264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01  ·  ציר זמן שנתי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לוח פעילות – ספטמבר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1864012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תמונה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165" y="2423160"/>
            <a:ext cx="18447975" cy="969264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01  ·  ציר זמן שנתי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לוח פעילות – אוקטובר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289284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תמונה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150" y="3384354"/>
            <a:ext cx="17642005" cy="777025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02  ·  גרף פעילות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יציבות גרף פעילות רח"ל – עד ספטמבר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153130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138" y="2731638"/>
            <a:ext cx="19314029" cy="907568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02  ·  גרף פעילות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הוספה ועדכון פעילות בגרף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4" name="TextBox 23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7" name="TextBox 26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107897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207" y="2865358"/>
            <a:ext cx="19303891" cy="880824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02  ·  גרף פעילות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הוספה ועדכון פעילות בגרף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(המשך)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0" name="TextBox 1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1" name="Rounded Rectangle 20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2185366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תמונה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991" y="4425520"/>
            <a:ext cx="19506323" cy="568792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02  ·  גרף פעילות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הוספה ועדכון פעילות בגרף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(המשך)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293228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03  ·  בקרת משימות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בקרה ומעקב אחר משימות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(מדיון קודם)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ash_b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13" name="TextBox 12">
            <a:hlinkClick action="ppaction://hlinksldjump" r:id="rId6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22960" y="2148840"/>
          <a:ext cx="22738385" cy="8915400"/>
        </p:xfrm>
        <a:graphic>
          <a:graphicData uri="http://schemas.openxmlformats.org/drawingml/2006/table">
            <a:tbl>
              <a:tblPr firstRow="1" bandRow="0" rtl="1">
                <a:tableStyleId>{2D5ABB26-0587-4C30-8999-92F81FD0307C}</a:tableStyleId>
              </a:tblPr>
              <a:tblGrid>
                <a:gridCol w="777240"/>
                <a:gridCol w="6035040"/>
                <a:gridCol w="3291840"/>
                <a:gridCol w="1234440"/>
                <a:gridCol w="2057400"/>
                <a:gridCol w="9342425"/>
              </a:tblGrid>
              <a:tr h="685800"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ספ'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2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הנחיה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2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גורם אחראי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תג"ב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מצב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200" b="1" lang="he-IL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סטטוס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0B1F44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0092C3"/>
                          </a:solidFill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מימוש ימ"מ – מעקב והצגה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רח"ט הפעלה  ורח"ט תכנון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22/9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06D7A"/>
                          </a:solidFill>
                          <a:latin typeface="Arial"/>
                          <a:cs typeface="Arial"/>
                        </a:rPr>
                        <a:t>מוצג היום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DD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מוצג במהלך המפגש הנוכחי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0092C3"/>
                          </a:solidFill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מז"א, גלי חום  - יש לקיים שיח מול אמ"ץ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רח"ט הפעלה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6/9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166534"/>
                          </a:solidFill>
                          <a:latin typeface="Arial"/>
                          <a:cs typeface="Arial"/>
                        </a:rPr>
                        <a:t>הושלם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התקיים שיח והיערכות שלמה ברמה הלאומית.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0092C3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תקציב היערכות למימוש ברבעון ג'. (מיצוי התקציב ברבעון ד').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רח"ט תכנון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1/10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92400E"/>
                          </a:solidFill>
                          <a:latin typeface="Arial"/>
                          <a:cs typeface="Arial"/>
                        </a:rPr>
                        <a:t>בתהליך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מוצג לראש רח"ל במסגרת דיונים עיתיים ייעודיים.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0092C3"/>
                          </a:solidFill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הוראת תכנון 2027 – הצגה לפורום ההנהלה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ר' יח' ת.ת.ת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1/9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166534"/>
                          </a:solidFill>
                          <a:latin typeface="Arial"/>
                          <a:cs typeface="Arial"/>
                        </a:rPr>
                        <a:t>הושלם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הוצג ע"י ראש יחידת תכנון, תורה ותרגילים לפורום ההנהלה.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0092C3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מלאים אסטרטגיים – נדרשת הערכת מצב ובחינה במסגרת עמ"ט.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רח"ט מלאים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30/11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92400E"/>
                          </a:solidFill>
                          <a:latin typeface="Arial"/>
                          <a:cs typeface="Arial"/>
                        </a:rPr>
                        <a:t>בתהליך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העמ"ט מתקדם בסיוע היועץ אבי קטוביץ ותוצג בנובמבר לר' רח"ל ובדצמבר תושלם ותוצג לאישור סופי.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0092C3"/>
                          </a:solidFill>
                          <a:latin typeface="Arial"/>
                          <a:cs typeface="Arial"/>
                        </a:rPr>
                        <a:t>6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המכללה לאיתנות – מעבר לניהול קורסים ע"י עובדי רח"ל. לקיים דיון מסכם בפורום ראשי יח'.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ס' בכיר מנהלת הכשרות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30/9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166534"/>
                          </a:solidFill>
                          <a:latin typeface="Arial"/>
                          <a:cs typeface="Arial"/>
                        </a:rPr>
                        <a:t>הושלם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7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הדיון התקיים ונקבעו מנהלי הקורסים: קנמ"ח – שמוליק קלמי · יסודות המל"ח – שלומי רוסנו · ניהול משברי סייבר – יוסי שפירא · חדר מצב וימ"ר – איציק גיא · יקל"מ – כפיר אוחנה · תחקיר והפקת לקחים – גל גלבוע · ניהול לעובדי רח"ל – ר' רח"ל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0092C3"/>
                          </a:solidFill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להציג את תוצאות קמפיין ותחקיר השווה בין ונצואלה לישראל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ר' יח' הוועדה לרעא"ד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22/9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06D7A"/>
                          </a:solidFill>
                          <a:latin typeface="Arial"/>
                          <a:cs typeface="Arial"/>
                        </a:rPr>
                        <a:t>מוצג היום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DD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יוצג במהלך המפגש הנוכחי הקמפיין ע"י הגב' יעל קליגמן ובמפגש הבא יוצג התחקיר ע"י ראש היח'.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0092C3"/>
                          </a:solidFill>
                          <a:latin typeface="Arial"/>
                          <a:cs typeface="Arial"/>
                        </a:rPr>
                        <a:t>8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הצגת מפת האיומים בדגש על השינויים בה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רח"ט מודיעין ותרחישי ייחוס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22/9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06D7A"/>
                          </a:solidFill>
                          <a:latin typeface="Arial"/>
                          <a:cs typeface="Arial"/>
                        </a:rPr>
                        <a:t>מוצג היום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DD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יוצג במהלך המפגש ע"י רח"ט מודיעין ותרחישי ייחוס.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 rtl="1"/>
                      <a:r>
                        <a:rPr sz="2200" b="1" lang="he-IL">
                          <a:solidFill>
                            <a:srgbClr val="0092C3"/>
                          </a:solidFill>
                          <a:latin typeface="Arial"/>
                          <a:cs typeface="Arial"/>
                        </a:rPr>
                        <a:t>9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מצפן רח"ל – כתיבת מסמך אסטרטגיה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רח"ט הפעלה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30/9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2000" b="1" lang="he-IL">
                          <a:solidFill>
                            <a:srgbClr val="92400E"/>
                          </a:solidFill>
                          <a:latin typeface="Arial"/>
                          <a:cs typeface="Arial"/>
                        </a:rPr>
                        <a:t>בתהליך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900" b="0" lang="he-IL">
                          <a:solidFill>
                            <a:srgbClr val="0B1B33"/>
                          </a:solidFill>
                          <a:latin typeface="Arial"/>
                          <a:cs typeface="Arial"/>
                        </a:rPr>
                        <a:t>קיימת טיוטה ראשונית. המלצה על 2 כיווני פעולה – כתיבה עצמית או בסיוע יועצת (המשמעות עיתוי תוצר מוגמר).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823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04  ·  דשבורד הפניות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דשבורד הפניות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לחיצה על נושא מעבירה לנספח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20548136" y="214884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>
            <a:hlinkClick action="ppaction://hlinksldjump" r:id="rId4"/>
          </p:cNvPr>
          <p:cNvSpPr/>
          <p:nvPr/>
        </p:nvSpPr>
        <p:spPr>
          <a:xfrm>
            <a:off x="22326905" y="246888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lag_c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555505" y="2697480"/>
            <a:ext cx="457200" cy="457200"/>
          </a:xfrm>
          <a:prstGeom prst="rect">
            <a:avLst/>
          </a:prstGeom>
        </p:spPr>
      </p:pic>
      <p:sp>
        <p:nvSpPr>
          <p:cNvPr id="14" name="TextBox 13">
            <a:hlinkClick action="ppaction://hlinksldjump" r:id="rId4"/>
          </p:cNvPr>
          <p:cNvSpPr txBox="1"/>
          <p:nvPr/>
        </p:nvSpPr>
        <p:spPr>
          <a:xfrm>
            <a:off x="20822456" y="24688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20822456" y="379476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תוכניות לאומיות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20822456" y="633222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17260606" y="214884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>
            <a:hlinkClick action="ppaction://hlinksldjump" r:id="rId5"/>
          </p:cNvPr>
          <p:cNvSpPr/>
          <p:nvPr/>
        </p:nvSpPr>
        <p:spPr>
          <a:xfrm>
            <a:off x="19039376" y="246888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wallet_c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267976" y="2697480"/>
            <a:ext cx="457200" cy="457200"/>
          </a:xfrm>
          <a:prstGeom prst="rect">
            <a:avLst/>
          </a:prstGeom>
        </p:spPr>
      </p:pic>
      <p:sp>
        <p:nvSpPr>
          <p:cNvPr id="20" name="TextBox 19">
            <a:hlinkClick action="ppaction://hlinksldjump" r:id="rId5"/>
          </p:cNvPr>
          <p:cNvSpPr txBox="1"/>
          <p:nvPr/>
        </p:nvSpPr>
        <p:spPr>
          <a:xfrm>
            <a:off x="17534926" y="24688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17534926" y="379476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תקציב, צינור הרכש וימ"מ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17534926" y="633222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23" name="Rounded Rectangle 22">
            <a:hlinkClick action="ppaction://hlinksldjump" r:id="rId6"/>
          </p:cNvPr>
          <p:cNvSpPr/>
          <p:nvPr/>
        </p:nvSpPr>
        <p:spPr>
          <a:xfrm>
            <a:off x="13973077" y="214884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>
            <a:hlinkClick action="ppaction://hlinksldjump" r:id="rId6"/>
          </p:cNvPr>
          <p:cNvSpPr/>
          <p:nvPr/>
        </p:nvSpPr>
        <p:spPr>
          <a:xfrm>
            <a:off x="15751846" y="246888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factory_c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980446" y="2697480"/>
            <a:ext cx="457200" cy="457200"/>
          </a:xfrm>
          <a:prstGeom prst="rect">
            <a:avLst/>
          </a:prstGeom>
        </p:spPr>
      </p:pic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14247397" y="24688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7" name="TextBox 26">
            <a:hlinkClick action="ppaction://hlinksldjump" r:id="rId6"/>
          </p:cNvPr>
          <p:cNvSpPr txBox="1"/>
          <p:nvPr/>
        </p:nvSpPr>
        <p:spPr>
          <a:xfrm>
            <a:off x="14247397" y="379476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מפעלים חיוניים</a:t>
            </a:r>
          </a:p>
        </p:txBody>
      </p:sp>
      <p:sp>
        <p:nvSpPr>
          <p:cNvPr id="28" name="TextBox 27">
            <a:hlinkClick action="ppaction://hlinksldjump" r:id="rId6"/>
          </p:cNvPr>
          <p:cNvSpPr txBox="1"/>
          <p:nvPr/>
        </p:nvSpPr>
        <p:spPr>
          <a:xfrm>
            <a:off x="14247397" y="633222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29" name="Rounded Rectangle 28">
            <a:hlinkClick action="ppaction://hlinksldjump" r:id="rId7"/>
          </p:cNvPr>
          <p:cNvSpPr/>
          <p:nvPr/>
        </p:nvSpPr>
        <p:spPr>
          <a:xfrm>
            <a:off x="10685548" y="214884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>
            <a:hlinkClick action="ppaction://hlinksldjump" r:id="rId7"/>
          </p:cNvPr>
          <p:cNvSpPr/>
          <p:nvPr/>
        </p:nvSpPr>
        <p:spPr>
          <a:xfrm>
            <a:off x="12464317" y="246888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book_c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692917" y="2697480"/>
            <a:ext cx="457200" cy="457200"/>
          </a:xfrm>
          <a:prstGeom prst="rect">
            <a:avLst/>
          </a:prstGeom>
        </p:spPr>
      </p:pic>
      <p:sp>
        <p:nvSpPr>
          <p:cNvPr id="32" name="TextBox 31">
            <a:hlinkClick action="ppaction://hlinksldjump" r:id="rId7"/>
          </p:cNvPr>
          <p:cNvSpPr txBox="1"/>
          <p:nvPr/>
        </p:nvSpPr>
        <p:spPr>
          <a:xfrm>
            <a:off x="10959868" y="24688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33" name="TextBox 32">
            <a:hlinkClick action="ppaction://hlinksldjump" r:id="rId7"/>
          </p:cNvPr>
          <p:cNvSpPr txBox="1"/>
          <p:nvPr/>
        </p:nvSpPr>
        <p:spPr>
          <a:xfrm>
            <a:off x="10959868" y="379476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עדכון נהלים ותפיסות לאומיות</a:t>
            </a:r>
          </a:p>
        </p:txBody>
      </p:sp>
      <p:sp>
        <p:nvSpPr>
          <p:cNvPr id="34" name="TextBox 33">
            <a:hlinkClick action="ppaction://hlinksldjump" r:id="rId7"/>
          </p:cNvPr>
          <p:cNvSpPr txBox="1"/>
          <p:nvPr/>
        </p:nvSpPr>
        <p:spPr>
          <a:xfrm>
            <a:off x="10959868" y="633222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35" name="Rounded Rectangle 34">
            <a:hlinkClick action="ppaction://hlinksldjump" r:id="rId8"/>
          </p:cNvPr>
          <p:cNvSpPr/>
          <p:nvPr/>
        </p:nvSpPr>
        <p:spPr>
          <a:xfrm>
            <a:off x="7398019" y="214884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>
            <a:hlinkClick action="ppaction://hlinksldjump" r:id="rId8"/>
          </p:cNvPr>
          <p:cNvSpPr/>
          <p:nvPr/>
        </p:nvSpPr>
        <p:spPr>
          <a:xfrm>
            <a:off x="9176788" y="246888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layers_c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05388" y="2697480"/>
            <a:ext cx="457200" cy="457200"/>
          </a:xfrm>
          <a:prstGeom prst="rect">
            <a:avLst/>
          </a:prstGeom>
        </p:spPr>
      </p:pic>
      <p:sp>
        <p:nvSpPr>
          <p:cNvPr id="38" name="TextBox 37">
            <a:hlinkClick action="ppaction://hlinksldjump" r:id="rId8"/>
          </p:cNvPr>
          <p:cNvSpPr txBox="1"/>
          <p:nvPr/>
        </p:nvSpPr>
        <p:spPr>
          <a:xfrm>
            <a:off x="7672339" y="24688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39" name="TextBox 38">
            <a:hlinkClick action="ppaction://hlinksldjump" r:id="rId8"/>
          </p:cNvPr>
          <p:cNvSpPr txBox="1"/>
          <p:nvPr/>
        </p:nvSpPr>
        <p:spPr>
          <a:xfrm>
            <a:off x="7672339" y="379476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סטטוס פרויקטים</a:t>
            </a:r>
          </a:p>
        </p:txBody>
      </p:sp>
      <p:sp>
        <p:nvSpPr>
          <p:cNvPr id="40" name="TextBox 39">
            <a:hlinkClick action="ppaction://hlinksldjump" r:id="rId8"/>
          </p:cNvPr>
          <p:cNvSpPr txBox="1"/>
          <p:nvPr/>
        </p:nvSpPr>
        <p:spPr>
          <a:xfrm>
            <a:off x="7672339" y="633222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41" name="Rounded Rectangle 40">
            <a:hlinkClick action="ppaction://hlinksldjump" r:id="rId9"/>
          </p:cNvPr>
          <p:cNvSpPr/>
          <p:nvPr/>
        </p:nvSpPr>
        <p:spPr>
          <a:xfrm>
            <a:off x="4110489" y="214884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>
            <a:hlinkClick action="ppaction://hlinksldjump" r:id="rId9"/>
          </p:cNvPr>
          <p:cNvSpPr/>
          <p:nvPr/>
        </p:nvSpPr>
        <p:spPr>
          <a:xfrm>
            <a:off x="5889259" y="246888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clip_c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17859" y="2697480"/>
            <a:ext cx="457200" cy="457200"/>
          </a:xfrm>
          <a:prstGeom prst="rect">
            <a:avLst/>
          </a:prstGeom>
        </p:spPr>
      </p:pic>
      <p:sp>
        <p:nvSpPr>
          <p:cNvPr id="44" name="TextBox 43">
            <a:hlinkClick action="ppaction://hlinksldjump" r:id="rId9"/>
          </p:cNvPr>
          <p:cNvSpPr txBox="1"/>
          <p:nvPr/>
        </p:nvSpPr>
        <p:spPr>
          <a:xfrm>
            <a:off x="4384809" y="24688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45" name="TextBox 44">
            <a:hlinkClick action="ppaction://hlinksldjump" r:id="rId9"/>
          </p:cNvPr>
          <p:cNvSpPr txBox="1"/>
          <p:nvPr/>
        </p:nvSpPr>
        <p:spPr>
          <a:xfrm>
            <a:off x="4384809" y="379476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סטטוס עמ"טים</a:t>
            </a:r>
          </a:p>
        </p:txBody>
      </p:sp>
      <p:sp>
        <p:nvSpPr>
          <p:cNvPr id="46" name="TextBox 45">
            <a:hlinkClick action="ppaction://hlinksldjump" r:id="rId9"/>
          </p:cNvPr>
          <p:cNvSpPr txBox="1"/>
          <p:nvPr/>
        </p:nvSpPr>
        <p:spPr>
          <a:xfrm>
            <a:off x="4384809" y="633222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47" name="Rounded Rectangle 46">
            <a:hlinkClick action="ppaction://hlinksldjump" r:id="rId10"/>
          </p:cNvPr>
          <p:cNvSpPr/>
          <p:nvPr/>
        </p:nvSpPr>
        <p:spPr>
          <a:xfrm>
            <a:off x="822960" y="214884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>
            <a:hlinkClick action="ppaction://hlinksldjump" r:id="rId10"/>
          </p:cNvPr>
          <p:cNvSpPr/>
          <p:nvPr/>
        </p:nvSpPr>
        <p:spPr>
          <a:xfrm>
            <a:off x="2601729" y="246888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9" name="Picture 48" descr="activity_c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30329" y="2697480"/>
            <a:ext cx="457200" cy="457200"/>
          </a:xfrm>
          <a:prstGeom prst="rect">
            <a:avLst/>
          </a:prstGeom>
        </p:spPr>
      </p:pic>
      <p:sp>
        <p:nvSpPr>
          <p:cNvPr id="50" name="TextBox 49">
            <a:hlinkClick action="ppaction://hlinksldjump" r:id="rId10"/>
          </p:cNvPr>
          <p:cNvSpPr txBox="1"/>
          <p:nvPr/>
        </p:nvSpPr>
        <p:spPr>
          <a:xfrm>
            <a:off x="1097280" y="24688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07</a:t>
            </a:r>
          </a:p>
        </p:txBody>
      </p:sp>
      <p:sp>
        <p:nvSpPr>
          <p:cNvPr id="51" name="TextBox 50">
            <a:hlinkClick action="ppaction://hlinksldjump" r:id="rId10"/>
          </p:cNvPr>
          <p:cNvSpPr txBox="1"/>
          <p:nvPr/>
        </p:nvSpPr>
        <p:spPr>
          <a:xfrm>
            <a:off x="1097280" y="379476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סטטוס שנת רעא"ד</a:t>
            </a:r>
          </a:p>
        </p:txBody>
      </p:sp>
      <p:sp>
        <p:nvSpPr>
          <p:cNvPr id="52" name="TextBox 51">
            <a:hlinkClick action="ppaction://hlinksldjump" r:id="rId10"/>
          </p:cNvPr>
          <p:cNvSpPr txBox="1"/>
          <p:nvPr/>
        </p:nvSpPr>
        <p:spPr>
          <a:xfrm>
            <a:off x="1097280" y="633222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53" name="Rounded Rectangle 52">
            <a:hlinkClick action="ppaction://hlinksldjump" r:id="rId11"/>
          </p:cNvPr>
          <p:cNvSpPr/>
          <p:nvPr/>
        </p:nvSpPr>
        <p:spPr>
          <a:xfrm>
            <a:off x="20548136" y="742950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>
            <a:hlinkClick action="ppaction://hlinksldjump" r:id="rId11"/>
          </p:cNvPr>
          <p:cNvSpPr/>
          <p:nvPr/>
        </p:nvSpPr>
        <p:spPr>
          <a:xfrm>
            <a:off x="22326905" y="774954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5" name="Picture 54" descr="audit_c.png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555505" y="7978140"/>
            <a:ext cx="457200" cy="457200"/>
          </a:xfrm>
          <a:prstGeom prst="rect">
            <a:avLst/>
          </a:prstGeom>
        </p:spPr>
      </p:pic>
      <p:sp>
        <p:nvSpPr>
          <p:cNvPr id="56" name="TextBox 55">
            <a:hlinkClick action="ppaction://hlinksldjump" r:id="rId11"/>
          </p:cNvPr>
          <p:cNvSpPr txBox="1"/>
          <p:nvPr/>
        </p:nvSpPr>
        <p:spPr>
          <a:xfrm>
            <a:off x="20822456" y="77495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08</a:t>
            </a:r>
          </a:p>
        </p:txBody>
      </p:sp>
      <p:sp>
        <p:nvSpPr>
          <p:cNvPr id="57" name="TextBox 56">
            <a:hlinkClick action="ppaction://hlinksldjump" r:id="rId11"/>
          </p:cNvPr>
          <p:cNvSpPr txBox="1"/>
          <p:nvPr/>
        </p:nvSpPr>
        <p:spPr>
          <a:xfrm>
            <a:off x="20822456" y="907542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יח' ביקורות – דוחות</a:t>
            </a:r>
          </a:p>
        </p:txBody>
      </p:sp>
      <p:sp>
        <p:nvSpPr>
          <p:cNvPr id="58" name="TextBox 57">
            <a:hlinkClick action="ppaction://hlinksldjump" r:id="rId11"/>
          </p:cNvPr>
          <p:cNvSpPr txBox="1"/>
          <p:nvPr/>
        </p:nvSpPr>
        <p:spPr>
          <a:xfrm>
            <a:off x="20822456" y="1161288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59" name="Rounded Rectangle 58">
            <a:hlinkClick action="ppaction://hlinksldjump" r:id="rId12"/>
          </p:cNvPr>
          <p:cNvSpPr/>
          <p:nvPr/>
        </p:nvSpPr>
        <p:spPr>
          <a:xfrm>
            <a:off x="17260606" y="742950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>
            <a:hlinkClick action="ppaction://hlinksldjump" r:id="rId12"/>
          </p:cNvPr>
          <p:cNvSpPr/>
          <p:nvPr/>
        </p:nvSpPr>
        <p:spPr>
          <a:xfrm>
            <a:off x="19039376" y="774954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grad_c.png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267976" y="7978140"/>
            <a:ext cx="457200" cy="457200"/>
          </a:xfrm>
          <a:prstGeom prst="rect">
            <a:avLst/>
          </a:prstGeom>
        </p:spPr>
      </p:pic>
      <p:sp>
        <p:nvSpPr>
          <p:cNvPr id="62" name="TextBox 61">
            <a:hlinkClick action="ppaction://hlinksldjump" r:id="rId12"/>
          </p:cNvPr>
          <p:cNvSpPr txBox="1"/>
          <p:nvPr/>
        </p:nvSpPr>
        <p:spPr>
          <a:xfrm>
            <a:off x="17534926" y="77495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09</a:t>
            </a:r>
          </a:p>
        </p:txBody>
      </p:sp>
      <p:sp>
        <p:nvSpPr>
          <p:cNvPr id="63" name="TextBox 62">
            <a:hlinkClick action="ppaction://hlinksldjump" r:id="rId12"/>
          </p:cNvPr>
          <p:cNvSpPr txBox="1"/>
          <p:nvPr/>
        </p:nvSpPr>
        <p:spPr>
          <a:xfrm>
            <a:off x="17534926" y="907542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המכללה לאיתנות</a:t>
            </a:r>
          </a:p>
        </p:txBody>
      </p:sp>
      <p:sp>
        <p:nvSpPr>
          <p:cNvPr id="64" name="TextBox 63">
            <a:hlinkClick action="ppaction://hlinksldjump" r:id="rId12"/>
          </p:cNvPr>
          <p:cNvSpPr txBox="1"/>
          <p:nvPr/>
        </p:nvSpPr>
        <p:spPr>
          <a:xfrm>
            <a:off x="17534926" y="1161288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65" name="Rounded Rectangle 64">
            <a:hlinkClick action="ppaction://hlinksldjump" r:id="rId13"/>
          </p:cNvPr>
          <p:cNvSpPr/>
          <p:nvPr/>
        </p:nvSpPr>
        <p:spPr>
          <a:xfrm>
            <a:off x="13973077" y="742950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>
            <a:hlinkClick action="ppaction://hlinksldjump" r:id="rId13"/>
          </p:cNvPr>
          <p:cNvSpPr/>
          <p:nvPr/>
        </p:nvSpPr>
        <p:spPr>
          <a:xfrm>
            <a:off x="15751846" y="774954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7" name="Picture 66" descr="pin_c.png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980446" y="7978140"/>
            <a:ext cx="457200" cy="457200"/>
          </a:xfrm>
          <a:prstGeom prst="rect">
            <a:avLst/>
          </a:prstGeom>
        </p:spPr>
      </p:pic>
      <p:sp>
        <p:nvSpPr>
          <p:cNvPr id="68" name="TextBox 67">
            <a:hlinkClick action="ppaction://hlinksldjump" r:id="rId13"/>
          </p:cNvPr>
          <p:cNvSpPr txBox="1"/>
          <p:nvPr/>
        </p:nvSpPr>
        <p:spPr>
          <a:xfrm>
            <a:off x="14247397" y="77495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69" name="TextBox 68">
            <a:hlinkClick action="ppaction://hlinksldjump" r:id="rId13"/>
          </p:cNvPr>
          <p:cNvSpPr txBox="1"/>
          <p:nvPr/>
        </p:nvSpPr>
        <p:spPr>
          <a:xfrm>
            <a:off x="14247397" y="907542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מחוזות</a:t>
            </a:r>
          </a:p>
        </p:txBody>
      </p:sp>
      <p:sp>
        <p:nvSpPr>
          <p:cNvPr id="70" name="TextBox 69">
            <a:hlinkClick action="ppaction://hlinksldjump" r:id="rId13"/>
          </p:cNvPr>
          <p:cNvSpPr txBox="1"/>
          <p:nvPr/>
        </p:nvSpPr>
        <p:spPr>
          <a:xfrm>
            <a:off x="14247397" y="1161288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71" name="Rounded Rectangle 70">
            <a:hlinkClick action="ppaction://hlinksldjump" r:id="rId14"/>
          </p:cNvPr>
          <p:cNvSpPr/>
          <p:nvPr/>
        </p:nvSpPr>
        <p:spPr>
          <a:xfrm>
            <a:off x="10685548" y="742950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>
            <a:hlinkClick action="ppaction://hlinksldjump" r:id="rId14"/>
          </p:cNvPr>
          <p:cNvSpPr/>
          <p:nvPr/>
        </p:nvSpPr>
        <p:spPr>
          <a:xfrm>
            <a:off x="12464317" y="774954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3" name="Picture 72" descr="news_c.png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692917" y="7978140"/>
            <a:ext cx="457200" cy="457200"/>
          </a:xfrm>
          <a:prstGeom prst="rect">
            <a:avLst/>
          </a:prstGeom>
        </p:spPr>
      </p:pic>
      <p:sp>
        <p:nvSpPr>
          <p:cNvPr id="74" name="TextBox 73">
            <a:hlinkClick action="ppaction://hlinksldjump" r:id="rId14"/>
          </p:cNvPr>
          <p:cNvSpPr txBox="1"/>
          <p:nvPr/>
        </p:nvSpPr>
        <p:spPr>
          <a:xfrm>
            <a:off x="10959868" y="77495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75" name="TextBox 74">
            <a:hlinkClick action="ppaction://hlinksldjump" r:id="rId14"/>
          </p:cNvPr>
          <p:cNvSpPr txBox="1"/>
          <p:nvPr/>
        </p:nvSpPr>
        <p:spPr>
          <a:xfrm>
            <a:off x="10959868" y="907542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רח"ל בתקשורת</a:t>
            </a:r>
          </a:p>
        </p:txBody>
      </p:sp>
      <p:sp>
        <p:nvSpPr>
          <p:cNvPr id="76" name="TextBox 75">
            <a:hlinkClick action="ppaction://hlinksldjump" r:id="rId14"/>
          </p:cNvPr>
          <p:cNvSpPr txBox="1"/>
          <p:nvPr/>
        </p:nvSpPr>
        <p:spPr>
          <a:xfrm>
            <a:off x="10959868" y="1161288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77" name="Rounded Rectangle 76">
            <a:hlinkClick action="ppaction://hlinksldjump" r:id="rId15"/>
          </p:cNvPr>
          <p:cNvSpPr/>
          <p:nvPr/>
        </p:nvSpPr>
        <p:spPr>
          <a:xfrm>
            <a:off x="7398019" y="742950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>
            <a:hlinkClick action="ppaction://hlinksldjump" r:id="rId15"/>
          </p:cNvPr>
          <p:cNvSpPr/>
          <p:nvPr/>
        </p:nvSpPr>
        <p:spPr>
          <a:xfrm>
            <a:off x="9176788" y="774954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hand_c.png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405388" y="7978140"/>
            <a:ext cx="457200" cy="457200"/>
          </a:xfrm>
          <a:prstGeom prst="rect">
            <a:avLst/>
          </a:prstGeom>
        </p:spPr>
      </p:pic>
      <p:sp>
        <p:nvSpPr>
          <p:cNvPr id="80" name="TextBox 79">
            <a:hlinkClick action="ppaction://hlinksldjump" r:id="rId15"/>
          </p:cNvPr>
          <p:cNvSpPr txBox="1"/>
          <p:nvPr/>
        </p:nvSpPr>
        <p:spPr>
          <a:xfrm>
            <a:off x="7672339" y="77495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81" name="TextBox 80">
            <a:hlinkClick action="ppaction://hlinksldjump" r:id="rId15"/>
          </p:cNvPr>
          <p:cNvSpPr txBox="1"/>
          <p:nvPr/>
        </p:nvSpPr>
        <p:spPr>
          <a:xfrm>
            <a:off x="7672339" y="907542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פעילות שת"פ</a:t>
            </a:r>
          </a:p>
        </p:txBody>
      </p:sp>
      <p:sp>
        <p:nvSpPr>
          <p:cNvPr id="82" name="TextBox 81">
            <a:hlinkClick action="ppaction://hlinksldjump" r:id="rId15"/>
          </p:cNvPr>
          <p:cNvSpPr txBox="1"/>
          <p:nvPr/>
        </p:nvSpPr>
        <p:spPr>
          <a:xfrm>
            <a:off x="7672339" y="1161288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83" name="Rounded Rectangle 82">
            <a:hlinkClick action="ppaction://hlinksldjump" r:id="rId16"/>
          </p:cNvPr>
          <p:cNvSpPr/>
          <p:nvPr/>
        </p:nvSpPr>
        <p:spPr>
          <a:xfrm>
            <a:off x="4110489" y="742950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>
            <a:hlinkClick action="ppaction://hlinksldjump" r:id="rId16"/>
          </p:cNvPr>
          <p:cNvSpPr/>
          <p:nvPr/>
        </p:nvSpPr>
        <p:spPr>
          <a:xfrm>
            <a:off x="5889259" y="774954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5" name="Picture 84" descr="radar_c.png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117859" y="7978140"/>
            <a:ext cx="457200" cy="457200"/>
          </a:xfrm>
          <a:prstGeom prst="rect">
            <a:avLst/>
          </a:prstGeom>
        </p:spPr>
      </p:pic>
      <p:sp>
        <p:nvSpPr>
          <p:cNvPr id="86" name="TextBox 85">
            <a:hlinkClick action="ppaction://hlinksldjump" r:id="rId16"/>
          </p:cNvPr>
          <p:cNvSpPr txBox="1"/>
          <p:nvPr/>
        </p:nvSpPr>
        <p:spPr>
          <a:xfrm>
            <a:off x="4384809" y="77495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rtl="0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87" name="TextBox 86">
            <a:hlinkClick action="ppaction://hlinksldjump" r:id="rId16"/>
          </p:cNvPr>
          <p:cNvSpPr txBox="1"/>
          <p:nvPr/>
        </p:nvSpPr>
        <p:spPr>
          <a:xfrm>
            <a:off x="4384809" y="9075420"/>
            <a:ext cx="2464569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500" b="1" lang="he-IL">
                <a:solidFill>
                  <a:srgbClr val="0B1B33"/>
                </a:solidFill>
                <a:latin typeface="Arial"/>
                <a:cs typeface="Arial"/>
              </a:rPr>
              <a:t>מודיעין ותרחישי ייחוס</a:t>
            </a:r>
          </a:p>
        </p:txBody>
      </p:sp>
      <p:sp>
        <p:nvSpPr>
          <p:cNvPr id="88" name="TextBox 87">
            <a:hlinkClick action="ppaction://hlinksldjump" r:id="rId16"/>
          </p:cNvPr>
          <p:cNvSpPr txBox="1"/>
          <p:nvPr/>
        </p:nvSpPr>
        <p:spPr>
          <a:xfrm>
            <a:off x="4384809" y="11612880"/>
            <a:ext cx="246456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מעבר לנספח  ←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2960" y="7429500"/>
            <a:ext cx="3013209" cy="4960620"/>
          </a:xfrm>
          <a:prstGeom prst="roundRect">
            <a:avLst>
              <a:gd name="adj" fmla="val 5462"/>
            </a:avLst>
          </a:prstGeom>
          <a:solidFill>
            <a:srgbClr val="0B1F44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97280" y="7749540"/>
            <a:ext cx="2464569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8000" b="1" lang="he-IL">
                <a:solidFill>
                  <a:srgbClr val="00CCD7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" y="9258300"/>
            <a:ext cx="246456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FFFFFF"/>
                </a:solidFill>
                <a:latin typeface="Arial"/>
                <a:cs typeface="Arial"/>
              </a:rPr>
              <a:t>נושאים בנספחים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7280" y="10081260"/>
            <a:ext cx="2464569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700" b="0" lang="he-IL">
                <a:solidFill>
                  <a:srgbClr val="BFD4E6"/>
                </a:solidFill>
                <a:latin typeface="Arial"/>
                <a:cs typeface="Arial"/>
              </a:rPr>
              <a:t>בכל נספח מופיע בתחתית השקף כפתור "חזרה לדשבורד"</a:t>
            </a:r>
          </a:p>
        </p:txBody>
      </p:sp>
    </p:spTree>
    <p:extLst>
      <p:ext uri="{BB962C8B-B14F-4D97-AF65-F5344CB8AC3E}">
        <p14:creationId xmlns:p14="http://schemas.microsoft.com/office/powerpoint/2010/main" val="207643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05  ·  החודש הבא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דגשים לחודש הקרוב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ash_b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13" name="TextBox 12">
            <a:hlinkClick action="ppaction://hlinksldjump" r:id="rId6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43425" y="2148840"/>
            <a:ext cx="6217920" cy="10241280"/>
          </a:xfrm>
          <a:prstGeom prst="roundRect">
            <a:avLst>
              <a:gd name="adj" fmla="val 2647"/>
            </a:avLst>
          </a:prstGeom>
          <a:solidFill>
            <a:srgbClr val="0B1F44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21823985" y="2697480"/>
            <a:ext cx="1097280" cy="1097280"/>
          </a:xfrm>
          <a:prstGeom prst="ellipse">
            <a:avLst/>
          </a:prstGeom>
          <a:solidFill>
            <a:srgbClr val="14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target_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305" y="297180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800625" y="4069080"/>
            <a:ext cx="5303520" cy="2926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18000" b="1" lang="he-IL">
                <a:solidFill>
                  <a:srgbClr val="00CCD7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00625" y="708660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3400" b="1" lang="he-IL">
                <a:solidFill>
                  <a:srgbClr val="FFFFFF"/>
                </a:solidFill>
                <a:latin typeface="Arial"/>
                <a:cs typeface="Arial"/>
              </a:rPr>
              <a:t>דגשים לחודש הקרוב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00625" y="809244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400" b="0" lang="he-IL">
                <a:solidFill>
                  <a:srgbClr val="BFD4E6"/>
                </a:solidFill>
                <a:latin typeface="Arial"/>
                <a:cs typeface="Arial"/>
              </a:rPr>
              <a:t>ספטמבר–אוקטובר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148840"/>
            <a:ext cx="16154705" cy="1290610"/>
          </a:xfrm>
          <a:prstGeom prst="roundRect">
            <a:avLst>
              <a:gd name="adj" fmla="val 991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5834665" y="2382665"/>
            <a:ext cx="822960" cy="822960"/>
          </a:xfrm>
          <a:prstGeom prst="roundRect">
            <a:avLst>
              <a:gd name="adj" fmla="val 17777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5834665" y="2382665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2200" b="1" lang="he-IL">
                <a:solidFill>
                  <a:srgbClr val="FFFFFF"/>
                </a:solidFill>
                <a:latin typeface="Arial"/>
                <a:cs typeface="Arial"/>
              </a:rPr>
              <a:t>01</a:t>
            </a:r>
          </a:p>
        </p:txBody>
      </p:sp>
      <p:pic>
        <p:nvPicPr>
          <p:cNvPr id="23" name="Picture 22" descr="file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11705" y="2519825"/>
            <a:ext cx="548640" cy="548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8720" y="2148840"/>
            <a:ext cx="13411505" cy="1290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0" lang="he-IL">
                <a:solidFill>
                  <a:srgbClr val="0B1B33"/>
                </a:solidFill>
                <a:latin typeface="Arial"/>
                <a:cs typeface="Arial"/>
              </a:rPr>
              <a:t>דיוני הכנה לאישור ת"ע 2027 במהלך חודש ספטמבר/אוקטובר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640618"/>
            <a:ext cx="16154705" cy="1290610"/>
          </a:xfrm>
          <a:prstGeom prst="roundRect">
            <a:avLst>
              <a:gd name="adj" fmla="val 991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5834665" y="3874443"/>
            <a:ext cx="822960" cy="822960"/>
          </a:xfrm>
          <a:prstGeom prst="roundRect">
            <a:avLst>
              <a:gd name="adj" fmla="val 17777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5834665" y="3874443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2200" b="1" lang="he-IL">
                <a:solidFill>
                  <a:srgbClr val="FFFFFF"/>
                </a:solidFill>
                <a:latin typeface="Arial"/>
                <a:cs typeface="Arial"/>
              </a:rPr>
              <a:t>02</a:t>
            </a:r>
          </a:p>
        </p:txBody>
      </p:sp>
      <p:pic>
        <p:nvPicPr>
          <p:cNvPr id="28" name="Picture 27" descr="coins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11705" y="4011603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88720" y="3640618"/>
            <a:ext cx="13411505" cy="1290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0" lang="he-IL">
                <a:solidFill>
                  <a:srgbClr val="0B1B33"/>
                </a:solidFill>
                <a:latin typeface="Arial"/>
                <a:cs typeface="Arial"/>
              </a:rPr>
              <a:t>מיצוי תקציב לקראת רבעון ד'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132397"/>
            <a:ext cx="16154705" cy="1290610"/>
          </a:xfrm>
          <a:prstGeom prst="roundRect">
            <a:avLst>
              <a:gd name="adj" fmla="val 991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5834665" y="5366222"/>
            <a:ext cx="822960" cy="822960"/>
          </a:xfrm>
          <a:prstGeom prst="roundRect">
            <a:avLst>
              <a:gd name="adj" fmla="val 17777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5834665" y="536622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2200" b="1" lang="he-IL">
                <a:solidFill>
                  <a:srgbClr val="FFFFFF"/>
                </a:solidFill>
                <a:latin typeface="Arial"/>
                <a:cs typeface="Arial"/>
              </a:rPr>
              <a:t>03</a:t>
            </a:r>
          </a:p>
        </p:txBody>
      </p:sp>
      <p:pic>
        <p:nvPicPr>
          <p:cNvPr id="33" name="Picture 32" descr="cal_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11705" y="5503382"/>
            <a:ext cx="548640" cy="5486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88720" y="5132397"/>
            <a:ext cx="13411505" cy="1290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0" lang="he-IL">
                <a:solidFill>
                  <a:srgbClr val="0B1B33"/>
                </a:solidFill>
                <a:latin typeface="Arial"/>
                <a:cs typeface="Arial"/>
              </a:rPr>
              <a:t>היערכות לקראת חגי תשרי (חופשות/היעדרות)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6624175"/>
            <a:ext cx="16154705" cy="1290610"/>
          </a:xfrm>
          <a:prstGeom prst="roundRect">
            <a:avLst>
              <a:gd name="adj" fmla="val 991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15834665" y="6858000"/>
            <a:ext cx="822960" cy="822960"/>
          </a:xfrm>
          <a:prstGeom prst="roundRect">
            <a:avLst>
              <a:gd name="adj" fmla="val 17777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5834665" y="6858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2200" b="1" lang="he-IL">
                <a:solidFill>
                  <a:srgbClr val="FFFFFF"/>
                </a:solidFill>
                <a:latin typeface="Arial"/>
                <a:cs typeface="Arial"/>
              </a:rPr>
              <a:t>04</a:t>
            </a:r>
          </a:p>
        </p:txBody>
      </p:sp>
      <p:pic>
        <p:nvPicPr>
          <p:cNvPr id="38" name="Picture 37" descr="cart_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11705" y="6995160"/>
            <a:ext cx="548640" cy="5486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88720" y="6624175"/>
            <a:ext cx="13411505" cy="1290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0" lang="he-IL">
                <a:solidFill>
                  <a:srgbClr val="0B1B33"/>
                </a:solidFill>
                <a:latin typeface="Arial"/>
                <a:cs typeface="Arial"/>
              </a:rPr>
              <a:t>פתיחת הזמנות עבור רשויות בתיאום מול אגף ההתיישבות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8115953"/>
            <a:ext cx="16154705" cy="1290610"/>
          </a:xfrm>
          <a:prstGeom prst="roundRect">
            <a:avLst>
              <a:gd name="adj" fmla="val 991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15834665" y="8349778"/>
            <a:ext cx="822960" cy="822960"/>
          </a:xfrm>
          <a:prstGeom prst="roundRect">
            <a:avLst>
              <a:gd name="adj" fmla="val 17777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5834665" y="834977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2200" b="1" lang="he-IL">
                <a:solidFill>
                  <a:srgbClr val="FFFFFF"/>
                </a:solidFill>
                <a:latin typeface="Arial"/>
                <a:cs typeface="Arial"/>
              </a:rPr>
              <a:t>05</a:t>
            </a:r>
          </a:p>
        </p:txBody>
      </p:sp>
      <p:pic>
        <p:nvPicPr>
          <p:cNvPr id="43" name="Picture 42" descr="landmark_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11705" y="8486938"/>
            <a:ext cx="548640" cy="5486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88720" y="8115953"/>
            <a:ext cx="13411505" cy="1290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0" lang="he-IL">
                <a:solidFill>
                  <a:srgbClr val="0B1B33"/>
                </a:solidFill>
                <a:latin typeface="Arial"/>
                <a:cs typeface="Arial"/>
              </a:rPr>
              <a:t>מיצוי תקציב השתתפות למשרדי ממשלה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9607731"/>
            <a:ext cx="16154705" cy="1290610"/>
          </a:xfrm>
          <a:prstGeom prst="roundRect">
            <a:avLst>
              <a:gd name="adj" fmla="val 991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15834665" y="9841557"/>
            <a:ext cx="822960" cy="822960"/>
          </a:xfrm>
          <a:prstGeom prst="roundRect">
            <a:avLst>
              <a:gd name="adj" fmla="val 17777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5834665" y="9841557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2200" b="1" lang="he-IL">
                <a:solidFill>
                  <a:srgbClr val="FFFFFF"/>
                </a:solidFill>
                <a:latin typeface="Arial"/>
                <a:cs typeface="Arial"/>
              </a:rPr>
              <a:t>06</a:t>
            </a:r>
          </a:p>
        </p:txBody>
      </p:sp>
      <p:pic>
        <p:nvPicPr>
          <p:cNvPr id="48" name="Picture 47" descr="usercheck_b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011705" y="9978717"/>
            <a:ext cx="548640" cy="54864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88720" y="9607731"/>
            <a:ext cx="13411505" cy="1290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0" lang="he-IL">
                <a:solidFill>
                  <a:srgbClr val="0B1B33"/>
                </a:solidFill>
                <a:latin typeface="Arial"/>
                <a:cs typeface="Arial"/>
              </a:rPr>
              <a:t>סיום ביצוע חוות דעת עובדים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" y="11099510"/>
            <a:ext cx="16154705" cy="1290610"/>
          </a:xfrm>
          <a:prstGeom prst="roundRect">
            <a:avLst>
              <a:gd name="adj" fmla="val 991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15834665" y="11333335"/>
            <a:ext cx="822960" cy="822960"/>
          </a:xfrm>
          <a:prstGeom prst="roundRect">
            <a:avLst>
              <a:gd name="adj" fmla="val 17777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5834665" y="11333335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2200" b="1" lang="he-IL">
                <a:solidFill>
                  <a:srgbClr val="FFFFFF"/>
                </a:solidFill>
                <a:latin typeface="Arial"/>
                <a:cs typeface="Arial"/>
              </a:rPr>
              <a:t>07</a:t>
            </a:r>
          </a:p>
        </p:txBody>
      </p:sp>
      <p:pic>
        <p:nvPicPr>
          <p:cNvPr id="53" name="Picture 52" descr="userplus_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11705" y="11470495"/>
            <a:ext cx="548640" cy="54864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88720" y="11099510"/>
            <a:ext cx="13411505" cy="12906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0" lang="he-IL">
                <a:solidFill>
                  <a:srgbClr val="0B1B33"/>
                </a:solidFill>
                <a:latin typeface="Arial"/>
                <a:cs typeface="Arial"/>
              </a:rPr>
              <a:t>קליטה והשתלבות בנות שירות חדשות</a:t>
            </a:r>
          </a:p>
        </p:txBody>
      </p:sp>
    </p:spTree>
    <p:extLst>
      <p:ext uri="{BB962C8B-B14F-4D97-AF65-F5344CB8AC3E}">
        <p14:creationId xmlns:p14="http://schemas.microsoft.com/office/powerpoint/2010/main" val="273972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B6F8F-F9E5-AB4A-9D42-C4B2279C7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305" cy="1371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812305" y="685800"/>
            <a:ext cx="3749040" cy="16002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3785" y="868680"/>
            <a:ext cx="1234440" cy="1234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2545" y="868680"/>
            <a:ext cx="934044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2926080"/>
            <a:ext cx="20818145" cy="7863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ct val="95000"/>
              </a:lnSpc>
              <a:spcAft>
                <a:spcPts val="1400"/>
              </a:spcAft>
            </a:pPr>
            <a:r>
              <a:rPr sz="3000" b="1" lang="he-IL">
                <a:solidFill>
                  <a:srgbClr val="00CCD7"/>
                </a:solidFill>
                <a:latin typeface="Arial"/>
                <a:cs typeface="Arial"/>
              </a:rPr>
              <a:t>מודול 06  ·  מציגה</a:t>
            </a:r>
          </a:p>
          <a:p>
            <a:pPr algn="r" rtl="1">
              <a:lnSpc>
                <a:spcPct val="95000"/>
              </a:lnSpc>
              <a:spcAft>
                <a:spcPts val="1800"/>
              </a:spcAft>
            </a:pPr>
            <a:r>
              <a:rPr sz="8800" b="1" lang="he-IL">
                <a:solidFill>
                  <a:srgbClr val="FFFFFF"/>
                </a:solidFill>
                <a:latin typeface="Arial"/>
                <a:cs typeface="Arial"/>
              </a:rPr>
              <a:t>תוצאות קמפיין ונצואלה</a:t>
            </a:r>
          </a:p>
          <a:p>
            <a:pPr algn="r" rtl="1">
              <a:lnSpc>
                <a:spcPct val="95000"/>
              </a:lnSpc>
            </a:pPr>
            <a:r>
              <a:rPr sz="3600" b="0" lang="he-IL">
                <a:solidFill>
                  <a:srgbClr val="CFE9F2"/>
                </a:solidFill>
                <a:latin typeface="Arial"/>
                <a:cs typeface="Arial"/>
              </a:rPr>
              <a:t>יעל קליגמן-סופר  |  ר' תחום מדיניות לרעידות אדמה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0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ספטמבר 2026</a:t>
            </a:r>
          </a:p>
        </p:txBody>
      </p:sp>
    </p:spTree>
    <p:extLst>
      <p:ext uri="{BB962C8B-B14F-4D97-AF65-F5344CB8AC3E}">
        <p14:creationId xmlns:p14="http://schemas.microsoft.com/office/powerpoint/2010/main" val="67766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284" y="2423160"/>
            <a:ext cx="19033737" cy="969264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06  ·  קמפיין ונצואלה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תוצאות קמפיין ונצואלה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1/2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0" name="TextBox 1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1" name="Rounded Rectangle 20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163291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תמונה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8752" y="2423160"/>
            <a:ext cx="19066801" cy="969264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06  ·  קמפיין ונצואלה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תוצאות קמפיין ונצואלה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2/2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5" name="TextBox 24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55255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B6F8F-F9E5-AB4A-9D42-C4B2279C7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305" cy="1371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812305" y="685800"/>
            <a:ext cx="3749040" cy="16002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3785" y="868680"/>
            <a:ext cx="1234440" cy="1234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2545" y="868680"/>
            <a:ext cx="934044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2926080"/>
            <a:ext cx="20818145" cy="7863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ct val="95000"/>
              </a:lnSpc>
              <a:spcAft>
                <a:spcPts val="1400"/>
              </a:spcAft>
            </a:pPr>
            <a:r>
              <a:rPr sz="3000" b="1" lang="he-IL">
                <a:solidFill>
                  <a:srgbClr val="00CCD7"/>
                </a:solidFill>
                <a:latin typeface="Arial"/>
                <a:cs typeface="Arial"/>
              </a:rPr>
              <a:t>מודול 07  ·  מציג</a:t>
            </a:r>
          </a:p>
          <a:p>
            <a:pPr algn="r" rtl="1">
              <a:lnSpc>
                <a:spcPct val="95000"/>
              </a:lnSpc>
              <a:spcAft>
                <a:spcPts val="1800"/>
              </a:spcAft>
            </a:pPr>
            <a:r>
              <a:rPr sz="8800" b="1" lang="he-IL">
                <a:solidFill>
                  <a:srgbClr val="FFFFFF"/>
                </a:solidFill>
                <a:latin typeface="Arial"/>
                <a:cs typeface="Arial"/>
              </a:rPr>
              <a:t>מפת האיומים בדגש על השינויים בה</a:t>
            </a:r>
          </a:p>
          <a:p>
            <a:pPr algn="r" rtl="1">
              <a:lnSpc>
                <a:spcPct val="95000"/>
              </a:lnSpc>
            </a:pPr>
            <a:r>
              <a:rPr sz="3600" b="0" lang="he-IL">
                <a:solidFill>
                  <a:srgbClr val="CFE9F2"/>
                </a:solidFill>
                <a:latin typeface="Arial"/>
                <a:cs typeface="Arial"/>
              </a:rPr>
              <a:t>גדי גניר עבאדי  |  רח"ט מודיעין ותרחישי ייחוס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0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ספטמבר 2026</a:t>
            </a:r>
          </a:p>
        </p:txBody>
      </p:sp>
    </p:spTree>
    <p:extLst>
      <p:ext uri="{BB962C8B-B14F-4D97-AF65-F5344CB8AC3E}">
        <p14:creationId xmlns:p14="http://schemas.microsoft.com/office/powerpoint/2010/main" val="3441917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B6F8F-F9E5-AB4A-9D42-C4B2279C7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305" cy="1371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812305" y="685800"/>
            <a:ext cx="3749040" cy="16002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3785" y="868680"/>
            <a:ext cx="1234440" cy="1234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2545" y="868680"/>
            <a:ext cx="934044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2926080"/>
            <a:ext cx="20818145" cy="7863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ct val="95000"/>
              </a:lnSpc>
              <a:spcAft>
                <a:spcPts val="1400"/>
              </a:spcAft>
            </a:pPr>
            <a:r>
              <a:rPr sz="3000" b="1" lang="he-IL">
                <a:solidFill>
                  <a:srgbClr val="00CCD7"/>
                </a:solidFill>
                <a:latin typeface="Arial"/>
                <a:cs typeface="Arial"/>
              </a:rPr>
              <a:t>מודול 08  ·  סיכום</a:t>
            </a:r>
          </a:p>
          <a:p>
            <a:pPr algn="r" rtl="1">
              <a:lnSpc>
                <a:spcPct val="95000"/>
              </a:lnSpc>
              <a:spcAft>
                <a:spcPts val="1800"/>
              </a:spcAft>
            </a:pPr>
            <a:r>
              <a:rPr sz="8800" b="1" lang="he-IL">
                <a:solidFill>
                  <a:srgbClr val="FFFFFF"/>
                </a:solidFill>
                <a:latin typeface="Arial"/>
                <a:cs typeface="Arial"/>
              </a:rPr>
              <a:t>התייחסות משתתפים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0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ספטמבר 2026</a:t>
            </a:r>
          </a:p>
        </p:txBody>
      </p:sp>
    </p:spTree>
    <p:extLst>
      <p:ext uri="{BB962C8B-B14F-4D97-AF65-F5344CB8AC3E}">
        <p14:creationId xmlns:p14="http://schemas.microsoft.com/office/powerpoint/2010/main" val="2569075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305" cy="1371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812305" y="685800"/>
            <a:ext cx="3749040" cy="16002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3785" y="868680"/>
            <a:ext cx="1234440" cy="1234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2545" y="868680"/>
            <a:ext cx="934044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2926080"/>
            <a:ext cx="20818145" cy="7863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ct val="95000"/>
              </a:lnSpc>
              <a:spcAft>
                <a:spcPts val="1400"/>
              </a:spcAft>
            </a:pPr>
            <a:r>
              <a:rPr sz="3000" b="1" lang="he-IL">
                <a:solidFill>
                  <a:srgbClr val="00CCD7"/>
                </a:solidFill>
                <a:latin typeface="Arial"/>
                <a:cs typeface="Arial"/>
              </a:rPr>
              <a:t>מודול 08  ·  סיכום</a:t>
            </a:r>
          </a:p>
          <a:p>
            <a:pPr algn="r" rtl="1">
              <a:lnSpc>
                <a:spcPct val="95000"/>
              </a:lnSpc>
              <a:spcAft>
                <a:spcPts val="1800"/>
              </a:spcAft>
            </a:pPr>
            <a:r>
              <a:rPr sz="8800" b="1" lang="he-IL">
                <a:solidFill>
                  <a:srgbClr val="FFFFFF"/>
                </a:solidFill>
                <a:latin typeface="Arial"/>
                <a:cs typeface="Arial"/>
              </a:rPr>
              <a:t>סיכום ר' רח"ל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0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ספטמבר 2026</a:t>
            </a:r>
          </a:p>
        </p:txBody>
      </p:sp>
    </p:spTree>
    <p:extLst>
      <p:ext uri="{BB962C8B-B14F-4D97-AF65-F5344CB8AC3E}">
        <p14:creationId xmlns:p14="http://schemas.microsoft.com/office/powerpoint/2010/main" val="2228778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b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305" cy="1371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812305" y="685800"/>
            <a:ext cx="3749040" cy="16002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3785" y="868680"/>
            <a:ext cx="1234440" cy="1234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2545" y="868680"/>
            <a:ext cx="934044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2926080"/>
            <a:ext cx="20818145" cy="7863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ct val="95000"/>
              </a:lnSpc>
              <a:spcAft>
                <a:spcPts val="1400"/>
              </a:spcAft>
            </a:pPr>
            <a:r>
              <a:rPr sz="3000" b="1" lang="he-IL">
                <a:solidFill>
                  <a:srgbClr val="00CCD7"/>
                </a:solidFill>
                <a:latin typeface="Arial"/>
                <a:cs typeface="Arial"/>
              </a:rPr>
              <a:t>סיום</a:t>
            </a:r>
          </a:p>
          <a:p>
            <a:pPr algn="r" rtl="1">
              <a:lnSpc>
                <a:spcPct val="95000"/>
              </a:lnSpc>
              <a:spcAft>
                <a:spcPts val="1800"/>
              </a:spcAft>
            </a:pPr>
            <a:r>
              <a:rPr sz="8800" b="1" lang="he-IL">
                <a:solidFill>
                  <a:srgbClr val="FFFFFF"/>
                </a:solidFill>
                <a:latin typeface="Arial"/>
                <a:cs typeface="Arial"/>
              </a:rPr>
              <a:t>תודה.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0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ספטמבר 2026</a:t>
            </a:r>
          </a:p>
        </p:txBody>
      </p:sp>
    </p:spTree>
    <p:extLst>
      <p:ext uri="{BB962C8B-B14F-4D97-AF65-F5344CB8AC3E}">
        <p14:creationId xmlns:p14="http://schemas.microsoft.com/office/powerpoint/2010/main" val="2324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תמונה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725" y="2423160"/>
            <a:ext cx="7767666" cy="3202106"/>
          </a:xfrm>
          <a:prstGeom prst="rect">
            <a:avLst/>
          </a:prstGeom>
        </p:spPr>
      </p:pic>
      <p:pic>
        <p:nvPicPr>
          <p:cNvPr id="10" name="תמונה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8648" y="6082207"/>
            <a:ext cx="5136106" cy="2971903"/>
          </a:xfrm>
          <a:prstGeom prst="rect">
            <a:avLst/>
          </a:prstGeom>
        </p:spPr>
      </p:pic>
      <p:pic>
        <p:nvPicPr>
          <p:cNvPr id="13" name="תמונה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8648" y="9312340"/>
            <a:ext cx="5136106" cy="2803460"/>
          </a:xfrm>
          <a:prstGeom prst="rect">
            <a:avLst/>
          </a:prstGeom>
        </p:spPr>
      </p:pic>
      <p:pic>
        <p:nvPicPr>
          <p:cNvPr id="14" name="תמונה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8166" y="6082207"/>
            <a:ext cx="5136106" cy="2971903"/>
          </a:xfrm>
          <a:prstGeom prst="rect">
            <a:avLst/>
          </a:prstGeom>
        </p:spPr>
      </p:pic>
      <p:pic>
        <p:nvPicPr>
          <p:cNvPr id="16" name="תמונה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166" y="9312340"/>
            <a:ext cx="5136106" cy="2803460"/>
          </a:xfrm>
          <a:prstGeom prst="rect">
            <a:avLst/>
          </a:prstGeom>
        </p:spPr>
      </p:pic>
      <p:pic>
        <p:nvPicPr>
          <p:cNvPr id="19" name="תמונה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50021" y="6082206"/>
            <a:ext cx="5175636" cy="2971903"/>
          </a:xfrm>
          <a:prstGeom prst="rect">
            <a:avLst/>
          </a:prstGeom>
        </p:spPr>
      </p:pic>
      <p:pic>
        <p:nvPicPr>
          <p:cNvPr id="37" name="תמונה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17685" y="9312339"/>
            <a:ext cx="5107972" cy="280346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תקציב, צינור הרכש וימ"מ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תקציב רח"ל 2026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תמונת מצב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55" name="TextBox 54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56" name="Rounded Rectangle 55">
            <a:hlinkClick action="ppaction://hlinksldjump" r:id="rId1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7" name="Picture 56" descr="dash_b.png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58" name="TextBox 57">
            <a:hlinkClick action="ppaction://hlinksldjump" r:id="rId1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842120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1" name="Connector 40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מלבן 38">
            <a:extLst>
              <a:ext uri="{FF2B5EF4-FFF2-40B4-BE49-F238E27FC236}">
                <a16:creationId xmlns:a16="http://schemas.microsoft.com/office/drawing/2014/main" id="{C3C6CF94-48C5-63A8-87CA-E6400B283AAD}"/>
              </a:ext>
            </a:extLst>
          </p:cNvPr>
          <p:cNvSpPr/>
          <p:nvPr/>
        </p:nvSpPr>
        <p:spPr>
          <a:xfrm>
            <a:off x="18352857" y="11543397"/>
            <a:ext cx="3599398" cy="572403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8255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0" i="0" u="none" strike="noStrike" kern="0" cap="none" spc="0" normalizeH="0" baseline="0" noProof="0" dirty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DM Sans Medium"/>
                <a:sym typeface="DM Sans Medium"/>
              </a:rPr>
              <a:t>נכון ל- 10/9/2026</a:t>
            </a:r>
          </a:p>
        </p:txBody>
      </p:sp>
      <p:graphicFrame>
        <p:nvGraphicFramePr>
          <p:cNvPr id="19" name="תרשים 18">
            <a:extLst>
              <a:ext uri="{FF2B5EF4-FFF2-40B4-BE49-F238E27FC236}">
                <a16:creationId xmlns:a16="http://schemas.microsoft.com/office/drawing/2014/main" id="{F648D85F-2B19-C982-3681-FC1CAB0E1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8496382"/>
              </p:ext>
            </p:extLst>
          </p:nvPr>
        </p:nvGraphicFramePr>
        <p:xfrm>
          <a:off x="2432050" y="2423160"/>
          <a:ext cx="15878962" cy="8426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תקציב, צינור הרכש וימ"מ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גנאלוגיה של צינור הרכש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מש"ח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57" name="TextBox 56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58" name="Rounded Rectangle 57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9" name="Picture 58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60" name="TextBox 59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752081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מלבן 18">
            <a:extLst>
              <a:ext uri="{FF2B5EF4-FFF2-40B4-BE49-F238E27FC236}">
                <a16:creationId xmlns:a16="http://schemas.microsoft.com/office/drawing/2014/main" id="{C3C6CF94-48C5-63A8-87CA-E6400B283AAD}"/>
              </a:ext>
            </a:extLst>
          </p:cNvPr>
          <p:cNvSpPr/>
          <p:nvPr/>
        </p:nvSpPr>
        <p:spPr>
          <a:xfrm>
            <a:off x="18814529" y="11432161"/>
            <a:ext cx="3677196" cy="584775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8255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0" i="0" u="none" strike="noStrike" kern="0" cap="none" spc="0" normalizeH="0" baseline="0" noProof="0" dirty="0">
                <a:ln w="0"/>
                <a:solidFill>
                  <a:srgbClr val="00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DM Sans Medium"/>
                <a:sym typeface="DM Sans Medium"/>
              </a:rPr>
              <a:t>נכון ל- 10/9/2026</a:t>
            </a:r>
          </a:p>
        </p:txBody>
      </p:sp>
      <p:graphicFrame>
        <p:nvGraphicFramePr>
          <p:cNvPr id="18" name="תרשים 17">
            <a:extLst>
              <a:ext uri="{FF2B5EF4-FFF2-40B4-BE49-F238E27FC236}">
                <a16:creationId xmlns:a16="http://schemas.microsoft.com/office/drawing/2014/main" id="{6F0B21F7-3700-44AC-38F2-E0FEFCB337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6080129"/>
              </p:ext>
            </p:extLst>
          </p:nvPr>
        </p:nvGraphicFramePr>
        <p:xfrm>
          <a:off x="1892579" y="2522024"/>
          <a:ext cx="16495370" cy="8784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מלבן: פינות מעוגלות 1">
            <a:extLst>
              <a:ext uri="{FF2B5EF4-FFF2-40B4-BE49-F238E27FC236}">
                <a16:creationId xmlns:a16="http://schemas.microsoft.com/office/drawing/2014/main" id="{7D23A638-E0F4-BF1B-F018-E622D0FA363E}"/>
              </a:ext>
            </a:extLst>
          </p:cNvPr>
          <p:cNvSpPr/>
          <p:nvPr/>
        </p:nvSpPr>
        <p:spPr>
          <a:xfrm>
            <a:off x="2535113" y="6050416"/>
            <a:ext cx="3173890" cy="5688632"/>
          </a:xfrm>
          <a:prstGeom prst="roundRect">
            <a:avLst/>
          </a:prstGeom>
          <a:noFill/>
          <a:ln w="76200" cap="flat">
            <a:solidFill>
              <a:srgbClr val="FF0000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he-IL" sz="3000" b="0" i="0" u="none" strike="noStrike" cap="none" spc="0" normalizeH="0" baseline="0">
              <a:ln>
                <a:noFill/>
              </a:ln>
              <a:solidFill>
                <a:srgbClr val="1A1A1A"/>
              </a:solidFill>
              <a:effectLst/>
              <a:uFillTx/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תקציב, צינור הרכש וימ"מ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יתרות תקציב בהזמנות רכש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מש"ח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42" name="TextBox 4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43" name="Rounded Rectangle 42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45" name="TextBox 44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112597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תמונה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743" y="2423160"/>
            <a:ext cx="18032819" cy="969264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תקציב, צינור הרכש וימ"מ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תוכנית ימ"מ 2026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נכון ל-1/9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5" name="TextBox 24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405500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סטטוס עמ"טים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סטטוס התקדמות עמ"טים ברח"ל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ash_b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13" name="TextBox 12">
            <a:hlinkClick action="ppaction://hlinksldjump" r:id="rId5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23585" y="22402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400" b="1" lang="he-IL">
                <a:solidFill>
                  <a:srgbClr val="0B1B33"/>
                </a:solidFill>
                <a:latin typeface="Arial"/>
                <a:cs typeface="Arial"/>
              </a:rPr>
              <a:t>שלבי העמ"ט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149865" y="3017520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623585" y="29260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600" b="0" lang="he-IL">
                <a:solidFill>
                  <a:srgbClr val="5B6B82"/>
                </a:solidFill>
                <a:latin typeface="Arial"/>
                <a:cs typeface="Arial"/>
              </a:rPr>
              <a:t>שלב שסומן, עם המועד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149865" y="3520440"/>
            <a:ext cx="411480" cy="292608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8623585" y="34290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600" b="0" lang="he-IL">
                <a:solidFill>
                  <a:srgbClr val="5B6B82"/>
                </a:solidFill>
                <a:latin typeface="Arial"/>
                <a:cs typeface="Arial"/>
              </a:rPr>
              <a:t>טרם סומן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623585" y="42519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806465" y="42519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900" b="1" lang="he-IL">
                <a:solidFill>
                  <a:srgbClr val="0B1B33"/>
                </a:solidFill>
                <a:latin typeface="Arial"/>
                <a:cs typeface="Arial"/>
              </a:rPr>
              <a:t>הגדרת הבעיה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75545" y="42519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623585" y="51663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8806465" y="51663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900" b="1" lang="he-IL">
                <a:solidFill>
                  <a:srgbClr val="0B1B33"/>
                </a:solidFill>
                <a:latin typeface="Arial"/>
                <a:cs typeface="Arial"/>
              </a:rPr>
              <a:t>רקע והקשר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75545" y="51663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623585" y="60807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8806465" y="60807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900" b="1" lang="he-IL">
                <a:solidFill>
                  <a:srgbClr val="0B1B33"/>
                </a:solidFill>
                <a:latin typeface="Arial"/>
                <a:cs typeface="Arial"/>
              </a:rPr>
              <a:t>הנחות עבודה וקריטריונים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75545" y="60807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623585" y="69951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8806465" y="69951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900" b="1" lang="he-IL">
                <a:solidFill>
                  <a:srgbClr val="0B1B33"/>
                </a:solidFill>
                <a:latin typeface="Arial"/>
                <a:cs typeface="Arial"/>
              </a:rPr>
              <a:t>פיתוח חלופות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75545" y="69951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623585" y="79095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8806465" y="79095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900" b="1" lang="he-IL">
                <a:solidFill>
                  <a:srgbClr val="0B1B33"/>
                </a:solidFill>
                <a:latin typeface="Arial"/>
                <a:cs typeface="Arial"/>
              </a:rPr>
              <a:t>ניתוח החלופות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75545" y="79095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623585" y="88239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8806465" y="88239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900" b="1" lang="he-IL">
                <a:solidFill>
                  <a:srgbClr val="0B1B33"/>
                </a:solidFill>
                <a:latin typeface="Arial"/>
                <a:cs typeface="Arial"/>
              </a:rPr>
              <a:t>הערכת סיכונים והפחתתם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75545" y="88239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623585" y="97383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8806465" y="97383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900" b="1" lang="he-IL">
                <a:solidFill>
                  <a:srgbClr val="0B1B33"/>
                </a:solidFill>
                <a:latin typeface="Arial"/>
                <a:cs typeface="Arial"/>
              </a:rPr>
              <a:t>המלצה מנומקת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75545" y="97383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623585" y="106527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8806465" y="106527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900" b="1" lang="he-IL">
                <a:solidFill>
                  <a:srgbClr val="0B1B33"/>
                </a:solidFill>
                <a:latin typeface="Arial"/>
                <a:cs typeface="Arial"/>
              </a:rPr>
              <a:t>תוכנית מימוש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75545" y="106527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623585" y="115671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8806465" y="115671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900" b="1" lang="he-IL">
                <a:solidFill>
                  <a:srgbClr val="0B1B33"/>
                </a:solidFill>
                <a:latin typeface="Arial"/>
                <a:cs typeface="Arial"/>
              </a:rPr>
              <a:t>נספחים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75545" y="1156716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800" b="1" lang="he-IL">
                <a:solidFill>
                  <a:srgbClr val="0092C3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173429" y="2148840"/>
            <a:ext cx="4175836" cy="1874520"/>
          </a:xfrm>
          <a:prstGeom prst="roundRect">
            <a:avLst>
              <a:gd name="adj" fmla="val 6829"/>
            </a:avLst>
          </a:prstGeom>
          <a:solidFill>
            <a:srgbClr val="0B1F44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4402029" y="2286000"/>
            <a:ext cx="3718636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הסדרת גבולות גזרה למוכנות לרעא"ד ברח"ל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402029" y="3291840"/>
            <a:ext cx="371863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600" b="1" lang="he-IL">
                <a:solidFill>
                  <a:srgbClr val="00CCD7"/>
                </a:solidFill>
                <a:latin typeface="Arial"/>
                <a:cs typeface="Arial"/>
              </a:rPr>
              <a:t>6 מתוך 9 שלבים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402029" y="3703320"/>
            <a:ext cx="3718636" cy="128016"/>
          </a:xfrm>
          <a:prstGeom prst="roundRect">
            <a:avLst>
              <a:gd name="adj" fmla="val 50000"/>
            </a:avLst>
          </a:prstGeom>
          <a:solidFill>
            <a:srgbClr val="1F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15641574" y="3703320"/>
            <a:ext cx="2479091" cy="128016"/>
          </a:xfrm>
          <a:prstGeom prst="roundRect">
            <a:avLst>
              <a:gd name="adj" fmla="val 50000"/>
            </a:avLst>
          </a:prstGeom>
          <a:solidFill>
            <a:srgbClr val="00C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14173429" y="42519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63465" y="4471416"/>
            <a:ext cx="384048" cy="38404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4356309" y="42519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5/26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173429" y="51663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5" name="Picture 54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63465" y="5385816"/>
            <a:ext cx="384048" cy="38404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356309" y="51663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5/26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173429" y="60807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63465" y="6300216"/>
            <a:ext cx="384048" cy="38404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4356309" y="60807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5/26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4173429" y="69951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63465" y="7214616"/>
            <a:ext cx="384048" cy="38404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4356309" y="69951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7/26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173429" y="79095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4" name="Picture 63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63465" y="8129016"/>
            <a:ext cx="384048" cy="38404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4356309" y="79095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7/26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4173429" y="88239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7" name="Picture 66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63465" y="9043416"/>
            <a:ext cx="384048" cy="38404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4356309" y="88239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8/26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173429" y="97383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14173429" y="106527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14173429" y="115671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9723272" y="2148840"/>
            <a:ext cx="4175836" cy="1874520"/>
          </a:xfrm>
          <a:prstGeom prst="roundRect">
            <a:avLst>
              <a:gd name="adj" fmla="val 6829"/>
            </a:avLst>
          </a:prstGeom>
          <a:solidFill>
            <a:srgbClr val="0B1F44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951872" y="2286000"/>
            <a:ext cx="3718636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ארגון מערך המיל' ברח"ל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51872" y="3291840"/>
            <a:ext cx="371863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600" b="1" lang="he-IL">
                <a:solidFill>
                  <a:srgbClr val="00CCD7"/>
                </a:solidFill>
                <a:latin typeface="Arial"/>
                <a:cs typeface="Arial"/>
              </a:rPr>
              <a:t>6 מתוך 9 שלבים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51872" y="3703320"/>
            <a:ext cx="3718636" cy="128016"/>
          </a:xfrm>
          <a:prstGeom prst="roundRect">
            <a:avLst>
              <a:gd name="adj" fmla="val 50000"/>
            </a:avLst>
          </a:prstGeom>
          <a:solidFill>
            <a:srgbClr val="1F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11191418" y="3703320"/>
            <a:ext cx="2479091" cy="128016"/>
          </a:xfrm>
          <a:prstGeom prst="roundRect">
            <a:avLst>
              <a:gd name="adj" fmla="val 50000"/>
            </a:avLst>
          </a:prstGeom>
          <a:solidFill>
            <a:srgbClr val="00C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9723272" y="42519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8" name="Picture 77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13309" y="4471416"/>
            <a:ext cx="384048" cy="38404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906152" y="42519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5/26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723272" y="51663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1" name="Picture 80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13309" y="5385816"/>
            <a:ext cx="384048" cy="38404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906152" y="51663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5/26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723272" y="60807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4" name="Picture 83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13309" y="6300216"/>
            <a:ext cx="384048" cy="38404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906152" y="60807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5/26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723272" y="69951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7" name="Picture 86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13309" y="7214616"/>
            <a:ext cx="384048" cy="38404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9906152" y="69951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7/26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723272" y="79095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" name="Picture 89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13309" y="8129016"/>
            <a:ext cx="384048" cy="38404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9906152" y="79095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7/26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723272" y="88239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3" name="Picture 92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13309" y="9043416"/>
            <a:ext cx="384048" cy="38404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9906152" y="88239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8/26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723272" y="97383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ounded Rectangle 95"/>
          <p:cNvSpPr/>
          <p:nvPr/>
        </p:nvSpPr>
        <p:spPr>
          <a:xfrm>
            <a:off x="9723272" y="106527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ounded Rectangle 96"/>
          <p:cNvSpPr/>
          <p:nvPr/>
        </p:nvSpPr>
        <p:spPr>
          <a:xfrm>
            <a:off x="9723272" y="115671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5273116" y="2148840"/>
            <a:ext cx="4175836" cy="1874520"/>
          </a:xfrm>
          <a:prstGeom prst="roundRect">
            <a:avLst>
              <a:gd name="adj" fmla="val 6829"/>
            </a:avLst>
          </a:prstGeom>
          <a:solidFill>
            <a:srgbClr val="0B1F44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5501716" y="2286000"/>
            <a:ext cx="3718636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יסודות הארי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01716" y="3291840"/>
            <a:ext cx="371863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600" b="1" lang="he-IL">
                <a:solidFill>
                  <a:srgbClr val="00CCD7"/>
                </a:solidFill>
                <a:latin typeface="Arial"/>
                <a:cs typeface="Arial"/>
              </a:rPr>
              <a:t>5 מתוך 9 שלבים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501716" y="3703320"/>
            <a:ext cx="3718636" cy="128016"/>
          </a:xfrm>
          <a:prstGeom prst="roundRect">
            <a:avLst>
              <a:gd name="adj" fmla="val 50000"/>
            </a:avLst>
          </a:prstGeom>
          <a:solidFill>
            <a:srgbClr val="1F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ounded Rectangle 101"/>
          <p:cNvSpPr/>
          <p:nvPr/>
        </p:nvSpPr>
        <p:spPr>
          <a:xfrm>
            <a:off x="7154443" y="3703320"/>
            <a:ext cx="2065909" cy="128016"/>
          </a:xfrm>
          <a:prstGeom prst="roundRect">
            <a:avLst>
              <a:gd name="adj" fmla="val 50000"/>
            </a:avLst>
          </a:prstGeom>
          <a:solidFill>
            <a:srgbClr val="00C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ounded Rectangle 102"/>
          <p:cNvSpPr/>
          <p:nvPr/>
        </p:nvSpPr>
        <p:spPr>
          <a:xfrm>
            <a:off x="5273116" y="42519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4" name="Picture 103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152" y="4471416"/>
            <a:ext cx="384048" cy="38404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455996" y="42519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5/26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273116" y="51663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7" name="Picture 106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152" y="5385816"/>
            <a:ext cx="384048" cy="38404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5455996" y="51663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5/26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273116" y="60807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0" name="Picture 109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152" y="6300216"/>
            <a:ext cx="384048" cy="38404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5455996" y="60807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5/26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273116" y="69951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3" name="Picture 112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152" y="7214616"/>
            <a:ext cx="384048" cy="38404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5455996" y="69951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9/26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273116" y="79095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6" name="Picture 115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152" y="8129016"/>
            <a:ext cx="384048" cy="38404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5455996" y="79095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9/26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273116" y="88239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ounded Rectangle 118"/>
          <p:cNvSpPr/>
          <p:nvPr/>
        </p:nvSpPr>
        <p:spPr>
          <a:xfrm>
            <a:off x="5273116" y="97383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ounded Rectangle 119"/>
          <p:cNvSpPr/>
          <p:nvPr/>
        </p:nvSpPr>
        <p:spPr>
          <a:xfrm>
            <a:off x="5273116" y="106527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ounded Rectangle 120"/>
          <p:cNvSpPr/>
          <p:nvPr/>
        </p:nvSpPr>
        <p:spPr>
          <a:xfrm>
            <a:off x="5273116" y="115671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ounded Rectangle 121"/>
          <p:cNvSpPr/>
          <p:nvPr/>
        </p:nvSpPr>
        <p:spPr>
          <a:xfrm>
            <a:off x="822960" y="2148840"/>
            <a:ext cx="4175836" cy="1874520"/>
          </a:xfrm>
          <a:prstGeom prst="roundRect">
            <a:avLst>
              <a:gd name="adj" fmla="val 6829"/>
            </a:avLst>
          </a:prstGeom>
          <a:solidFill>
            <a:srgbClr val="0B1F44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1051560" y="2286000"/>
            <a:ext cx="3718636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מלאים אסטרטגיים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1560" y="3291840"/>
            <a:ext cx="371863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600" b="1" lang="he-IL">
                <a:solidFill>
                  <a:srgbClr val="00CCD7"/>
                </a:solidFill>
                <a:latin typeface="Arial"/>
                <a:cs typeface="Arial"/>
              </a:rPr>
              <a:t>5 מתוך 9 שלבים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51560" y="3703320"/>
            <a:ext cx="3718636" cy="128016"/>
          </a:xfrm>
          <a:prstGeom prst="roundRect">
            <a:avLst>
              <a:gd name="adj" fmla="val 50000"/>
            </a:avLst>
          </a:prstGeom>
          <a:solidFill>
            <a:srgbClr val="1F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ounded Rectangle 125"/>
          <p:cNvSpPr/>
          <p:nvPr/>
        </p:nvSpPr>
        <p:spPr>
          <a:xfrm>
            <a:off x="2704287" y="3703320"/>
            <a:ext cx="2065909" cy="128016"/>
          </a:xfrm>
          <a:prstGeom prst="roundRect">
            <a:avLst>
              <a:gd name="adj" fmla="val 50000"/>
            </a:avLst>
          </a:prstGeom>
          <a:solidFill>
            <a:srgbClr val="00C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ounded Rectangle 126"/>
          <p:cNvSpPr/>
          <p:nvPr/>
        </p:nvSpPr>
        <p:spPr>
          <a:xfrm>
            <a:off x="822960" y="42519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8" name="Picture 127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2996" y="4471416"/>
            <a:ext cx="384048" cy="384048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005840" y="42519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8/26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22960" y="51663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1" name="Picture 130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2996" y="5385816"/>
            <a:ext cx="384048" cy="384048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1005840" y="51663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8/26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22960" y="60807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4" name="Picture 133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2996" y="6300216"/>
            <a:ext cx="384048" cy="384048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1005840" y="60807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8/26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22960" y="69951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7" name="Picture 136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2996" y="7214616"/>
            <a:ext cx="384048" cy="384048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1005840" y="69951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9/26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22960" y="7909560"/>
            <a:ext cx="4175836" cy="822960"/>
          </a:xfrm>
          <a:prstGeom prst="roundRect">
            <a:avLst>
              <a:gd name="adj" fmla="val 11111"/>
            </a:avLst>
          </a:prstGeom>
          <a:solidFill>
            <a:srgbClr val="DDF6FA"/>
          </a:solidFill>
          <a:ln w="12700">
            <a:solidFill>
              <a:srgbClr val="00A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0" name="Picture 139" descr="chec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2996" y="8129016"/>
            <a:ext cx="384048" cy="384048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1005840" y="7909560"/>
            <a:ext cx="326143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0"/>
            <a:r>
              <a:rPr sz="2000" b="1" lang="he-IL">
                <a:solidFill>
                  <a:srgbClr val="006D7A"/>
                </a:solidFill>
                <a:latin typeface="Arial"/>
                <a:cs typeface="Arial"/>
              </a:rPr>
              <a:t>9/26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22960" y="88239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ounded Rectangle 142"/>
          <p:cNvSpPr/>
          <p:nvPr/>
        </p:nvSpPr>
        <p:spPr>
          <a:xfrm>
            <a:off x="822960" y="97383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ounded Rectangle 143"/>
          <p:cNvSpPr/>
          <p:nvPr/>
        </p:nvSpPr>
        <p:spPr>
          <a:xfrm>
            <a:off x="822960" y="106527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ounded Rectangle 144"/>
          <p:cNvSpPr/>
          <p:nvPr/>
        </p:nvSpPr>
        <p:spPr>
          <a:xfrm>
            <a:off x="822960" y="11567160"/>
            <a:ext cx="4175836" cy="822960"/>
          </a:xfrm>
          <a:prstGeom prst="roundRect">
            <a:avLst>
              <a:gd name="adj" fmla="val 11111"/>
            </a:avLst>
          </a:prstGeom>
          <a:noFill/>
          <a:ln w="12700">
            <a:solidFill>
              <a:srgbClr val="B8C4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  <p:extLst>
      <p:ext uri="{BB962C8B-B14F-4D97-AF65-F5344CB8AC3E}">
        <p14:creationId xmlns:p14="http://schemas.microsoft.com/office/powerpoint/2010/main" val="62456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מלבן מעוגל 5"/>
          <p:cNvSpPr/>
          <p:nvPr/>
        </p:nvSpPr>
        <p:spPr>
          <a:xfrm>
            <a:off x="11181364" y="11353356"/>
            <a:ext cx="3004457" cy="57663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מעוגל 7"/>
          <p:cNvSpPr/>
          <p:nvPr/>
        </p:nvSpPr>
        <p:spPr>
          <a:xfrm>
            <a:off x="11181364" y="11353356"/>
            <a:ext cx="3004457" cy="576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מלבן מעוגל 23"/>
          <p:cNvSpPr/>
          <p:nvPr/>
        </p:nvSpPr>
        <p:spPr>
          <a:xfrm>
            <a:off x="21878793" y="11407569"/>
            <a:ext cx="824204" cy="576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308" y="2554759"/>
            <a:ext cx="21021689" cy="9388326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סטטוס פרויקטים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סטטוס פרויקטים מרכזיים – מערכות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42" name="TextBox 4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43" name="Rounded Rectangle 42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45" name="TextBox 44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801964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מלבן מעוגל 5"/>
          <p:cNvSpPr/>
          <p:nvPr/>
        </p:nvSpPr>
        <p:spPr>
          <a:xfrm>
            <a:off x="11124718" y="11406889"/>
            <a:ext cx="2860571" cy="54901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מעוגל 7"/>
          <p:cNvSpPr/>
          <p:nvPr/>
        </p:nvSpPr>
        <p:spPr>
          <a:xfrm>
            <a:off x="11124718" y="11406889"/>
            <a:ext cx="2860571" cy="5490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מלבן מעוגל 23"/>
          <p:cNvSpPr/>
          <p:nvPr/>
        </p:nvSpPr>
        <p:spPr>
          <a:xfrm>
            <a:off x="21309838" y="11458506"/>
            <a:ext cx="784732" cy="5490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735" y="2515452"/>
            <a:ext cx="19412469" cy="9600348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2887307" y="2423160"/>
            <a:ext cx="2222038" cy="16194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סטטוס פרויקטים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פורטל רח"ל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42" name="TextBox 4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43" name="Rounded Rectangle 42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45" name="TextBox 44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2039588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מלבן מעוגל 5"/>
          <p:cNvSpPr/>
          <p:nvPr/>
        </p:nvSpPr>
        <p:spPr>
          <a:xfrm>
            <a:off x="11291798" y="11282218"/>
            <a:ext cx="3004457" cy="57663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מעוגל 7"/>
          <p:cNvSpPr/>
          <p:nvPr/>
        </p:nvSpPr>
        <p:spPr>
          <a:xfrm>
            <a:off x="11291798" y="11282218"/>
            <a:ext cx="3004457" cy="576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מלבן מעוגל 23"/>
          <p:cNvSpPr/>
          <p:nvPr/>
        </p:nvSpPr>
        <p:spPr>
          <a:xfrm>
            <a:off x="21989227" y="11336431"/>
            <a:ext cx="824204" cy="576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873" y="2515453"/>
            <a:ext cx="21149978" cy="9508054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סטטוס פרויקטים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מערכת מצפן – ניהול מארג מסמכים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(פיתוח בעזרת אגף דיגיטל משהב"ט)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42" name="TextBox 4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43" name="Rounded Rectangle 42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45" name="TextBox 44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617784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מלבן מעוגל 5"/>
          <p:cNvSpPr/>
          <p:nvPr/>
        </p:nvSpPr>
        <p:spPr>
          <a:xfrm>
            <a:off x="11110001" y="11255328"/>
            <a:ext cx="3004457" cy="57663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מעוגל 7"/>
          <p:cNvSpPr/>
          <p:nvPr/>
        </p:nvSpPr>
        <p:spPr>
          <a:xfrm>
            <a:off x="11110001" y="11255328"/>
            <a:ext cx="3004457" cy="576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מלבן מעוגל 23"/>
          <p:cNvSpPr/>
          <p:nvPr/>
        </p:nvSpPr>
        <p:spPr>
          <a:xfrm>
            <a:off x="21807430" y="11309541"/>
            <a:ext cx="824204" cy="576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71" y="2542343"/>
            <a:ext cx="20752204" cy="9454274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סטטוס פרויקטים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סטטוס פרויקטים מרכזיים – תקשו"ב ותשתיות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42" name="TextBox 4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43" name="Rounded Rectangle 42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45" name="TextBox 44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1871659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מלבן מעוגל 5"/>
          <p:cNvSpPr/>
          <p:nvPr/>
        </p:nvSpPr>
        <p:spPr>
          <a:xfrm>
            <a:off x="11346994" y="11391164"/>
            <a:ext cx="2957186" cy="56756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מעוגל 7"/>
          <p:cNvSpPr/>
          <p:nvPr/>
        </p:nvSpPr>
        <p:spPr>
          <a:xfrm>
            <a:off x="11346994" y="11391164"/>
            <a:ext cx="2957186" cy="5675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מלבן מעוגל 23"/>
          <p:cNvSpPr/>
          <p:nvPr/>
        </p:nvSpPr>
        <p:spPr>
          <a:xfrm>
            <a:off x="21876115" y="11444524"/>
            <a:ext cx="811236" cy="5675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מעוגל 9"/>
          <p:cNvSpPr/>
          <p:nvPr/>
        </p:nvSpPr>
        <p:spPr>
          <a:xfrm>
            <a:off x="2482724" y="10821768"/>
            <a:ext cx="3739706" cy="9183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מלבן מעוגל 24"/>
          <p:cNvSpPr/>
          <p:nvPr/>
        </p:nvSpPr>
        <p:spPr>
          <a:xfrm>
            <a:off x="20412930" y="11197419"/>
            <a:ext cx="1031648" cy="9183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953" y="2423160"/>
            <a:ext cx="20990398" cy="967409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סטטוס פרויקטים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חמ"ל מחוסרי קורת גג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43" name="TextBox 42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44" name="Rounded Rectangle 43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46" name="TextBox 45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33961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תמונה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980110"/>
            <a:ext cx="22189745" cy="857874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סטטוס שנת רעא"ד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סטטוס התקדמות – התוכנית הלאומית להיערכות לרעידת אדמה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5" name="TextBox 24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34078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rcRect b="3000"/>
          <a:stretch>
            <a:fillRect/>
          </a:stretch>
        </p:blipFill>
        <p:spPr>
          <a:xfrm>
            <a:off x="2796077" y="2423160"/>
            <a:ext cx="19375296" cy="9198955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2212931" y="11390988"/>
            <a:ext cx="2859777" cy="724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תוכניות לאומיות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תוכניות לאומיות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ash_b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5" name="TextBox 24">
            <a:hlinkClick action="ppaction://hlinksldjump" r:id="rId5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70426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תרשים 27">
            <a:extLst>
              <a:ext uri="{FF2B5EF4-FFF2-40B4-BE49-F238E27FC236}">
                <a16:creationId xmlns:a16="http://schemas.microsoft.com/office/drawing/2014/main" id="{FFA11054-B1C1-3719-1F37-5472E49BCB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6251510"/>
              </p:ext>
            </p:extLst>
          </p:nvPr>
        </p:nvGraphicFramePr>
        <p:xfrm>
          <a:off x="4382310" y="2423160"/>
          <a:ext cx="15619684" cy="9692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יח' ביקורות – דוחות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דוחות מבקר המדינה ברח"ל במספרים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46" name="TextBox 45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47" name="Rounded Rectangle 46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49" name="TextBox 48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08436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5AA38-E9DC-EE05-FD8B-C35DB792E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מלבן 5">
            <a:extLst>
              <a:ext uri="{FF2B5EF4-FFF2-40B4-BE49-F238E27FC236}">
                <a16:creationId xmlns:a16="http://schemas.microsoft.com/office/drawing/2014/main" id="{FE97A78F-8F0C-125B-2E81-58A442DB9B53}"/>
              </a:ext>
            </a:extLst>
          </p:cNvPr>
          <p:cNvSpPr/>
          <p:nvPr/>
        </p:nvSpPr>
        <p:spPr>
          <a:xfrm>
            <a:off x="3381483" y="2423160"/>
            <a:ext cx="1774060" cy="390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854" y="2636118"/>
            <a:ext cx="19302596" cy="947968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יח' ביקורות – דוחות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חטיבת ביקורות ברשויות מקומיות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4" name="TextBox 23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7" name="TextBox 26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43378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מלבן 7"/>
          <p:cNvSpPr/>
          <p:nvPr/>
        </p:nvSpPr>
        <p:spPr>
          <a:xfrm>
            <a:off x="1739847" y="11539637"/>
            <a:ext cx="2815630" cy="3062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3A67BB6B-8509-D3E0-9988-D2D210FDB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1342" y="2423160"/>
            <a:ext cx="12959419" cy="9692640"/>
          </a:xfrm>
          <a:prstGeom prst="rect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67719915-7C6B-9B02-85A9-474CFE882A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544" y="2874105"/>
            <a:ext cx="6765536" cy="828194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עדכון נהלים ותפיסות לאומיות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סטטוס כתיבת תורה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37" name="TextBox 36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38" name="Rounded Rectangle 37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40" name="TextBox 39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113836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תמונה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703" y="2423160"/>
            <a:ext cx="19780900" cy="969264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רח"ל בתקשורת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רח"ל בתקשורת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0" name="TextBox 1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3" name="TextBox 22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258124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תמונה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1676" y="2423160"/>
            <a:ext cx="19340953" cy="969264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פעילות שת"פ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עיקרי עשייה – שת"פ אסטרטגי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5" name="TextBox 24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211683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המכללה לאיתנות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המכללה לאיתנות – עיקרי פעילות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ash_b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13" name="TextBox 12">
            <a:hlinkClick action="ppaction://hlinksldjump" r:id="rId6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25723" y="2148840"/>
            <a:ext cx="7335622" cy="1024128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22235465" y="2514600"/>
            <a:ext cx="960120" cy="96012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grad_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5495" y="2754630"/>
            <a:ext cx="480060" cy="4800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591483" y="2514600"/>
            <a:ext cx="5506822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קורסים והשתלמויות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545763" y="3840480"/>
            <a:ext cx="6695542" cy="2514600"/>
          </a:xfrm>
          <a:prstGeom prst="roundRect">
            <a:avLst>
              <a:gd name="adj" fmla="val 509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6820083" y="4114800"/>
            <a:ext cx="6146902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700" b="0" lang="he-IL">
                <a:solidFill>
                  <a:srgbClr val="0B1B33"/>
                </a:solidFill>
                <a:latin typeface="Arial"/>
                <a:cs typeface="Arial"/>
              </a:rPr>
              <a:t>התקיימה השתלמות תחקיר והפקת לקחים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820083" y="557784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6820083" y="557784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900" b="1" lang="he-IL">
                <a:solidFill>
                  <a:srgbClr val="166534"/>
                </a:solidFill>
                <a:latin typeface="Arial"/>
                <a:cs typeface="Arial"/>
              </a:rPr>
              <a:t>בוצע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545763" y="6629400"/>
            <a:ext cx="6695542" cy="2514600"/>
          </a:xfrm>
          <a:prstGeom prst="roundRect">
            <a:avLst>
              <a:gd name="adj" fmla="val 509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6820083" y="6903720"/>
            <a:ext cx="6146902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700" b="0" lang="he-IL">
                <a:solidFill>
                  <a:srgbClr val="0B1B33"/>
                </a:solidFill>
                <a:latin typeface="Arial"/>
                <a:cs typeface="Arial"/>
              </a:rPr>
              <a:t>התקיים קורס ניהול משברי סייבר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820083" y="836676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6820083" y="836676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900" b="1" lang="he-IL">
                <a:solidFill>
                  <a:srgbClr val="166534"/>
                </a:solidFill>
                <a:latin typeface="Arial"/>
                <a:cs typeface="Arial"/>
              </a:rPr>
              <a:t>בוצע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545763" y="9418320"/>
            <a:ext cx="6695542" cy="2514600"/>
          </a:xfrm>
          <a:prstGeom prst="roundRect">
            <a:avLst>
              <a:gd name="adj" fmla="val 509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6820083" y="9692640"/>
            <a:ext cx="6146902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700" b="0" lang="he-IL">
                <a:solidFill>
                  <a:srgbClr val="0B1B33"/>
                </a:solidFill>
                <a:latin typeface="Arial"/>
                <a:cs typeface="Arial"/>
              </a:rPr>
              <a:t>תיקוף תיקי יסוד: קורס ניהול משברי סייבר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820083" y="1115568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6820083" y="1115568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900" b="1" lang="he-IL">
                <a:solidFill>
                  <a:srgbClr val="92400E"/>
                </a:solidFill>
                <a:latin typeface="Arial"/>
                <a:cs typeface="Arial"/>
              </a:rPr>
              <a:t>בעבודה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24342" y="2148840"/>
            <a:ext cx="7335622" cy="1024128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4534083" y="2514600"/>
            <a:ext cx="960120" cy="96012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book_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74113" y="2754630"/>
            <a:ext cx="480060" cy="4800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890102" y="2514600"/>
            <a:ext cx="5506822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פיתוח הדרכה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44382" y="3840480"/>
            <a:ext cx="6695542" cy="2514600"/>
          </a:xfrm>
          <a:prstGeom prst="roundRect">
            <a:avLst>
              <a:gd name="adj" fmla="val 509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118702" y="4114800"/>
            <a:ext cx="6146902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700" b="0" lang="he-IL">
                <a:solidFill>
                  <a:srgbClr val="0B1B33"/>
                </a:solidFill>
                <a:latin typeface="Arial"/>
                <a:cs typeface="Arial"/>
              </a:rPr>
              <a:t>פיתוח הדרכה לקורס ימ"ר – בוצע אישור תוכניות מקדים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18702" y="557784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18702" y="557784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900" b="1" lang="he-IL">
                <a:solidFill>
                  <a:srgbClr val="92400E"/>
                </a:solidFill>
                <a:latin typeface="Arial"/>
                <a:cs typeface="Arial"/>
              </a:rPr>
              <a:t>בתהליך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44382" y="6629400"/>
            <a:ext cx="6695542" cy="2514600"/>
          </a:xfrm>
          <a:prstGeom prst="roundRect">
            <a:avLst>
              <a:gd name="adj" fmla="val 509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18702" y="6903720"/>
            <a:ext cx="6146902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700" b="0" lang="he-IL">
                <a:solidFill>
                  <a:srgbClr val="0B1B33"/>
                </a:solidFill>
                <a:latin typeface="Arial"/>
                <a:cs typeface="Arial"/>
              </a:rPr>
              <a:t>נכתבה תפישת הדרכה למגמת משרדי ממשלה – לקראת דיון אישור ר' רח"ל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18702" y="836676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118702" y="836676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900" b="1" lang="he-IL">
                <a:solidFill>
                  <a:srgbClr val="92400E"/>
                </a:solidFill>
                <a:latin typeface="Arial"/>
                <a:cs typeface="Arial"/>
              </a:rPr>
              <a:t>לאישור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44382" y="9418320"/>
            <a:ext cx="6695542" cy="2514600"/>
          </a:xfrm>
          <a:prstGeom prst="roundRect">
            <a:avLst>
              <a:gd name="adj" fmla="val 509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118702" y="9692640"/>
            <a:ext cx="6146902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700" b="0" lang="he-IL">
                <a:solidFill>
                  <a:srgbClr val="0B1B33"/>
                </a:solidFill>
                <a:latin typeface="Arial"/>
                <a:cs typeface="Arial"/>
              </a:rPr>
              <a:t>ועדת הדרכה מתקיימת אחת לשבועיים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18702" y="1115568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18702" y="1115568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900" b="1" lang="he-IL">
                <a:solidFill>
                  <a:srgbClr val="1E3A8A"/>
                </a:solidFill>
                <a:latin typeface="Arial"/>
                <a:cs typeface="Arial"/>
              </a:rPr>
              <a:t>שוטף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2148840"/>
            <a:ext cx="7335622" cy="1024128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6832702" y="2514600"/>
            <a:ext cx="960120" cy="96012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users_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2732" y="2754630"/>
            <a:ext cx="480060" cy="4800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88720" y="2514600"/>
            <a:ext cx="5506822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ארגון וכוח אדם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3840480"/>
            <a:ext cx="6695542" cy="2514600"/>
          </a:xfrm>
          <a:prstGeom prst="roundRect">
            <a:avLst>
              <a:gd name="adj" fmla="val 509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417320" y="4114800"/>
            <a:ext cx="6146902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700" b="0" lang="he-IL">
                <a:solidFill>
                  <a:srgbClr val="0B1B33"/>
                </a:solidFill>
                <a:latin typeface="Arial"/>
                <a:cs typeface="Arial"/>
              </a:rPr>
              <a:t>נכנס מפקד חדש למכללה ומתקיים שיח פתוח ושוטף לקידום שת"פ מקצועי ופורה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17320" y="557784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417320" y="557784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900" b="1" lang="he-IL">
                <a:solidFill>
                  <a:srgbClr val="1E3A8A"/>
                </a:solidFill>
                <a:latin typeface="Arial"/>
                <a:cs typeface="Arial"/>
              </a:rPr>
              <a:t>שוטף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43000" y="6629400"/>
            <a:ext cx="6695542" cy="2514600"/>
          </a:xfrm>
          <a:prstGeom prst="roundRect">
            <a:avLst>
              <a:gd name="adj" fmla="val 509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417320" y="6903720"/>
            <a:ext cx="6146902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700" b="0" lang="he-IL">
                <a:solidFill>
                  <a:srgbClr val="0B1B33"/>
                </a:solidFill>
                <a:latin typeface="Arial"/>
                <a:cs typeface="Arial"/>
              </a:rPr>
              <a:t>נקלטו 2 בנות שירות לאומי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17320" y="836676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417320" y="836676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r>
              <a:rPr sz="1900" b="1" lang="he-IL">
                <a:solidFill>
                  <a:srgbClr val="166534"/>
                </a:solidFill>
                <a:latin typeface="Arial"/>
                <a:cs typeface="Arial"/>
              </a:rPr>
              <a:t>בוצע</a:t>
            </a:r>
          </a:p>
        </p:txBody>
      </p:sp>
    </p:spTree>
    <p:extLst>
      <p:ext uri="{BB962C8B-B14F-4D97-AF65-F5344CB8AC3E}">
        <p14:creationId xmlns:p14="http://schemas.microsoft.com/office/powerpoint/2010/main" val="787895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64C99C18-ED4F-ED5A-C6D4-8275BEC87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6416" y="4087859"/>
            <a:ext cx="20311473" cy="6363243"/>
          </a:xfrm>
          <a:prstGeom prst="rect">
            <a:avLst/>
          </a:prstGeom>
          <a:ln w="19050">
            <a:solidFill>
              <a:sysClr val="windowText" lastClr="000000"/>
            </a:solidFill>
          </a:ln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המכללה לאיתנות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המכללה לאיתנות – גאנט קורסים ומופעים בהמשך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37" name="TextBox 36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38" name="Rounded Rectangle 37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40" name="TextBox 39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77378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מחוזות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עיקרי העשייה וההערכות – רמה מחוזית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ash_b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13" name="TextBox 12">
            <a:hlinkClick action="ppaction://hlinksldjump" r:id="rId6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52172" y="2148840"/>
            <a:ext cx="1120917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22281185" y="251460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audit_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09785" y="274320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717932" y="2514600"/>
            <a:ext cx="93803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ביקורות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63652" y="3611880"/>
            <a:ext cx="1038621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3000" b="0" lang="he-IL">
                <a:solidFill>
                  <a:srgbClr val="34465E"/>
                </a:solidFill>
                <a:latin typeface="Arial"/>
                <a:cs typeface="Arial"/>
              </a:rPr>
              <a:t>7 מפגשי מטה מול מטה כהיערכות לקראת ביקורות ברשויות. (יקנעם, עג'ר, אזור, באר יעקב, שהם, כפר כנא ואשכול)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148840"/>
            <a:ext cx="1120917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0751972" y="251460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clip_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0572" y="274320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8720" y="2514600"/>
            <a:ext cx="93803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תחקיר אימונים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1038621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3000" b="0" lang="he-IL">
                <a:solidFill>
                  <a:srgbClr val="34465E"/>
                </a:solidFill>
                <a:latin typeface="Arial"/>
                <a:cs typeface="Arial"/>
              </a:rPr>
              <a:t>הושלמו הפגישות עם יחידות רח״ל. הממצאים בעיבוד לקראת הצגה לראש רח״ל.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52172" y="7429500"/>
            <a:ext cx="1120917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2281185" y="779526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route_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09785" y="8023860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717932" y="7795260"/>
            <a:ext cx="93803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תחקיר רצ"ת מחוזי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63652" y="8892540"/>
            <a:ext cx="1038621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3000" b="0" lang="he-IL">
                <a:solidFill>
                  <a:srgbClr val="34465E"/>
                </a:solidFill>
                <a:latin typeface="Arial"/>
                <a:cs typeface="Arial"/>
              </a:rPr>
              <a:t>התקיימו מפגשים מקצועיים עם רמ״ח אוכלוסייה. בתהליך השלמה.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7429500"/>
            <a:ext cx="1120917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0751972" y="779526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users_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80572" y="8023860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88720" y="7795260"/>
            <a:ext cx="93803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מפגשי שטח עם מנהלי צח"י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8892540"/>
            <a:ext cx="1038621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700" b="0" lang="he-IL">
                <a:solidFill>
                  <a:srgbClr val="34465E"/>
                </a:solidFill>
                <a:latin typeface="Arial"/>
                <a:cs typeface="Arial"/>
              </a:rPr>
              <a:t>בהמשך להנחיית ראש רח״ל, התקיימו מפגשי שטח של הוועדה הבין־ארגונית עם מנהלי צח״י במועצות אשכול ומטה אשר. מפגש נוסף יתקיים בדרום השרון ב־11.10 בהשתתפות ארבע מועצות אזוריות. בתהליך עבודה.</a:t>
            </a:r>
          </a:p>
        </p:txBody>
      </p:sp>
    </p:spTree>
    <p:extLst>
      <p:ext uri="{BB962C8B-B14F-4D97-AF65-F5344CB8AC3E}">
        <p14:creationId xmlns:p14="http://schemas.microsoft.com/office/powerpoint/2010/main" val="200044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מחוזות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עיקרי העשייה וההערכות – רמה מחוזית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ash_b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13" name="TextBox 12">
            <a:hlinkClick action="ppaction://hlinksldjump" r:id="rId6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52172" y="2148840"/>
            <a:ext cx="1120917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22281185" y="251460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wallet_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09785" y="274320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717932" y="2514600"/>
            <a:ext cx="93803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תקציב לרשויות המקומיות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63652" y="3611880"/>
            <a:ext cx="1038621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3000" b="0" lang="he-IL">
                <a:solidFill>
                  <a:srgbClr val="34465E"/>
                </a:solidFill>
                <a:latin typeface="Arial"/>
                <a:cs typeface="Arial"/>
              </a:rPr>
              <a:t>ניהול משותף מול הרשויות, חטיבת התכנון ואגף ההתיישבות. אחת לשבוע מוצג לראש רח״ל סטטוס התקדמות.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148840"/>
            <a:ext cx="1120917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0751972" y="251460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file_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0572" y="274320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8720" y="2514600"/>
            <a:ext cx="93803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סיכום מתכונת תר"ש רשויות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1038621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700" b="0" lang="he-IL">
                <a:solidFill>
                  <a:srgbClr val="34465E"/>
                </a:solidFill>
                <a:latin typeface="Arial"/>
                <a:cs typeface="Arial"/>
              </a:rPr>
              <a:t>התקיימו דיונים אצל רמ״ח אוכלוסייה. העבודה מול פקע״ר נמשכת בעקבות תיקונים שנדרשו. הנושא יוצג לראש רח״ל טרם סיכום מול רמ״ט. טרם נקבעו לוחות זמנים.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195243" y="7429500"/>
            <a:ext cx="736610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2281185" y="779526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plane_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09785" y="8023860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561003" y="7795260"/>
            <a:ext cx="553730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משלחת לקולומביה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06723" y="8892540"/>
            <a:ext cx="654314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700" b="0" lang="he-IL">
                <a:solidFill>
                  <a:srgbClr val="34465E"/>
                </a:solidFill>
                <a:latin typeface="Arial"/>
                <a:cs typeface="Arial"/>
              </a:rPr>
              <a:t>אבי פרחי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9102" y="7429500"/>
            <a:ext cx="736610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4595043" y="779526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building_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23643" y="8023860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74862" y="7795260"/>
            <a:ext cx="553730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ביקור ברפאל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0582" y="8892540"/>
            <a:ext cx="654314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700" b="0" lang="he-IL">
                <a:solidFill>
                  <a:srgbClr val="34465E"/>
                </a:solidFill>
                <a:latin typeface="Arial"/>
                <a:cs typeface="Arial"/>
              </a:rPr>
              <a:t>במעמד ראש רח״ל, בתיאום אבי פרחי.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7429500"/>
            <a:ext cx="736610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908902" y="779526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mega_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7502" y="8023860"/>
            <a:ext cx="457200" cy="4572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88720" y="7795260"/>
            <a:ext cx="553730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השתתפות בועידת הגליל ה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8892540"/>
            <a:ext cx="654314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2700" b="0" lang="he-IL">
                <a:solidFill>
                  <a:srgbClr val="34465E"/>
                </a:solidFill>
                <a:latin typeface="Arial"/>
                <a:cs typeface="Arial"/>
              </a:rPr>
              <a:t>ועידת משרד הנגב והגליל בהשתתפות רשויות מהצפון. שמוליק ופארס נטלו חלק בוועידה, שמוליק השתתף בפאנל עם יו״ר קו העימות.</a:t>
            </a:r>
          </a:p>
        </p:txBody>
      </p:sp>
    </p:spTree>
    <p:extLst>
      <p:ext uri="{BB962C8B-B14F-4D97-AF65-F5344CB8AC3E}">
        <p14:creationId xmlns:p14="http://schemas.microsoft.com/office/powerpoint/2010/main" val="370169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מחוזות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מחוזות – נושאים לקידום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13" name="TextBox 12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52172" y="2148840"/>
            <a:ext cx="1120917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22281185" y="251460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presentation_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09785" y="274320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717932" y="2514600"/>
            <a:ext cx="93803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הצגת תחקיר ציר הרצ"ת המחוזי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63652" y="3611880"/>
            <a:ext cx="1038621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3000" b="0" lang="he-IL">
                <a:solidFill>
                  <a:srgbClr val="34465E"/>
                </a:solidFill>
                <a:latin typeface="Arial"/>
                <a:cs typeface="Arial"/>
              </a:rPr>
              <a:t>רח"ל פקע"ר. הגעה לסיכום מוסכם.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148840"/>
            <a:ext cx="1120917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0751972" y="251460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cal_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0572" y="274320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8720" y="2514600"/>
            <a:ext cx="93803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תוכנית עבודה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1038621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3000" b="0" lang="he-IL">
                <a:solidFill>
                  <a:srgbClr val="34465E"/>
                </a:solidFill>
                <a:latin typeface="Arial"/>
                <a:cs typeface="Arial"/>
              </a:rPr>
              <a:t>הוכנה טיוטה לאישור, שתוצג לראש רח״ל לאחר השלמת התיאום עם פקע״ר.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52172" y="7429500"/>
            <a:ext cx="1120917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2281185" y="779526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shield_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09785" y="8023860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717932" y="7795260"/>
            <a:ext cx="93803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תקן רשותי לרע"ד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63652" y="8892540"/>
            <a:ext cx="1038621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3000" b="0" lang="he-IL">
                <a:solidFill>
                  <a:srgbClr val="34465E"/>
                </a:solidFill>
                <a:latin typeface="Arial"/>
                <a:cs typeface="Arial"/>
              </a:rPr>
              <a:t>דיון משותף של ועדת רע"ד, רח"ל ופקע"ר. הדיון יתקיים לאחר חג הסוכות.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7429500"/>
            <a:ext cx="11209172" cy="4960620"/>
          </a:xfrm>
          <a:prstGeom prst="roundRect">
            <a:avLst>
              <a:gd name="adj" fmla="val 2949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0751972" y="7795260"/>
            <a:ext cx="914400" cy="91440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users_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80572" y="8023860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88720" y="7795260"/>
            <a:ext cx="93803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3200" b="1" lang="he-IL">
                <a:solidFill>
                  <a:srgbClr val="0B1B33"/>
                </a:solidFill>
                <a:latin typeface="Arial"/>
                <a:cs typeface="Arial"/>
              </a:rPr>
              <a:t>ועדת היגוי צח"י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8892540"/>
            <a:ext cx="10386212" cy="331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>
              <a:lnSpc>
                <a:spcPct val="105000"/>
              </a:lnSpc>
            </a:pPr>
            <a:r>
              <a:rPr sz="3000" b="0" lang="he-IL">
                <a:solidFill>
                  <a:srgbClr val="34465E"/>
                </a:solidFill>
                <a:latin typeface="Arial"/>
                <a:cs typeface="Arial"/>
              </a:rPr>
              <a:t>השלמת העמ״ט. התקיימו מפגשי שטח בהתאם לתכנון, מפגש נוסף יתקיים במהלך אוקטובר.</a:t>
            </a:r>
          </a:p>
        </p:txBody>
      </p:sp>
    </p:spTree>
    <p:extLst>
      <p:ext uri="{BB962C8B-B14F-4D97-AF65-F5344CB8AC3E}">
        <p14:creationId xmlns:p14="http://schemas.microsoft.com/office/powerpoint/2010/main" val="380771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916" y="3090673"/>
            <a:ext cx="19686473" cy="835761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מפעלים חיוניים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מפעלים חיוניים ובמיקוד רח"ל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1/2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0" name="TextBox 1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1" name="Rounded Rectangle 20">
            <a:hlinkClick action="ppaction://hlinksldjump" r:id="rId7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dash_b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272618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תמונה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060" y="3032312"/>
            <a:ext cx="20364184" cy="8474336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מפעלים חיוניים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מפעלים חיוניים ובמיקוד רח"ל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2/2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2" name="TextBox 21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ash_b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5" name="TextBox 24">
            <a:hlinkClick action="ppaction://hlinksldjump" r:id="rId5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55164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22960" y="2148840"/>
            <a:ext cx="22738385" cy="102412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694944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94944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3186441" y="2020824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3689361" y="2020824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4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94944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186441" y="12518136"/>
            <a:ext cx="502920" cy="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3689361" y="12015216"/>
            <a:ext cx="0" cy="502920"/>
          </a:xfrm>
          <a:prstGeom prst="line">
            <a:avLst/>
          </a:prstGeom>
          <a:ln w="38100">
            <a:solidFill>
              <a:srgbClr val="00C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תמונה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4077" y="2452052"/>
            <a:ext cx="18396151" cy="963485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נספח  ·  מודיעין ותרחישי ייחוס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חט' מודיעין ותרחישי ייחוס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20" name="TextBox 1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23" name="TextBox 22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</p:spTree>
    <p:extLst>
      <p:ext uri="{BB962C8B-B14F-4D97-AF65-F5344CB8AC3E}">
        <p14:creationId xmlns:p14="http://schemas.microsoft.com/office/powerpoint/2010/main" val="317432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7200"/>
            <a:ext cx="1188720" cy="11887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57200"/>
            <a:ext cx="89945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384048"/>
            <a:ext cx="1807494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1" lang="he-IL">
                <a:solidFill>
                  <a:srgbClr val="0092C3"/>
                </a:solidFill>
                <a:latin typeface="Arial"/>
                <a:cs typeface="Arial"/>
              </a:rPr>
              <a:t>מודול 00  ·  תקציר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822960"/>
            <a:ext cx="1908078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5000" b="1" lang="he-IL">
                <a:solidFill>
                  <a:srgbClr val="0B1B33"/>
                </a:solidFill>
                <a:latin typeface="Arial"/>
                <a:cs typeface="Arial"/>
              </a:rPr>
              <a:t>תמונת מצב – סיכום מנהלים</a:t>
            </a:r>
            <a:r>
              <a:rPr sz="3000" b="0" lang="he-IL">
                <a:solidFill>
                  <a:srgbClr val="5B6B82"/>
                </a:solidFill>
                <a:latin typeface="Arial"/>
                <a:cs typeface="Arial"/>
              </a:rPr>
              <a:t>   ספטמבר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0B1B33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0" name="TextBox 9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4251960" y="12838176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4F7FA"/>
          </a:solidFill>
          <a:ln w="12700">
            <a:solidFill>
              <a:srgbClr val="9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ash_b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12929616"/>
            <a:ext cx="329184" cy="329184"/>
          </a:xfrm>
          <a:prstGeom prst="rect">
            <a:avLst/>
          </a:prstGeom>
        </p:spPr>
      </p:pic>
      <p:sp>
        <p:nvSpPr>
          <p:cNvPr id="13" name="TextBox 12">
            <a:hlinkClick action="ppaction://hlinksldjump" r:id="rId4"/>
          </p:cNvPr>
          <p:cNvSpPr txBox="1"/>
          <p:nvPr/>
        </p:nvSpPr>
        <p:spPr>
          <a:xfrm>
            <a:off x="4389120" y="128198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700" b="1" lang="he-IL">
                <a:solidFill>
                  <a:srgbClr val="0092C3"/>
                </a:solidFill>
                <a:latin typeface="Arial"/>
                <a:cs typeface="Arial"/>
              </a:rPr>
              <a:t>חזרה לדשבורד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48840"/>
            <a:ext cx="6949440" cy="10241280"/>
          </a:xfrm>
          <a:prstGeom prst="roundRect">
            <a:avLst>
              <a:gd name="adj" fmla="val 2368"/>
            </a:avLst>
          </a:prstGeom>
          <a:solidFill>
            <a:srgbClr val="0B1F44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251460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3000" b="1" lang="he-IL">
                <a:solidFill>
                  <a:srgbClr val="FFFFFF"/>
                </a:solidFill>
                <a:latin typeface="Arial"/>
                <a:cs typeface="Arial"/>
              </a:rPr>
              <a:t>סדר המפגש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1143000" y="3474720"/>
            <a:ext cx="6309360" cy="868680"/>
          </a:xfrm>
          <a:prstGeom prst="roundRect">
            <a:avLst>
              <a:gd name="adj" fmla="val 14736"/>
            </a:avLst>
          </a:prstGeom>
          <a:solidFill>
            <a:srgbClr val="14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>
            <a:hlinkClick action="ppaction://hlinksldjump" r:id="rId6"/>
          </p:cNvPr>
          <p:cNvSpPr txBox="1"/>
          <p:nvPr/>
        </p:nvSpPr>
        <p:spPr>
          <a:xfrm>
            <a:off x="6355080" y="3474720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400" b="1" lang="he-IL">
                <a:solidFill>
                  <a:srgbClr val="00CCD7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1371600" y="3474720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300" b="0" lang="he-IL">
                <a:solidFill>
                  <a:srgbClr val="FFFFFF"/>
                </a:solidFill>
                <a:latin typeface="Arial"/>
                <a:cs typeface="Arial"/>
              </a:rPr>
              <a:t>ציר זמן ועוגנים</a:t>
            </a:r>
          </a:p>
        </p:txBody>
      </p:sp>
      <p:sp>
        <p:nvSpPr>
          <p:cNvPr id="19" name="Rounded Rectangle 18">
            <a:hlinkClick action="ppaction://hlinksldjump" r:id="rId7"/>
          </p:cNvPr>
          <p:cNvSpPr/>
          <p:nvPr/>
        </p:nvSpPr>
        <p:spPr>
          <a:xfrm>
            <a:off x="1143000" y="4507992"/>
            <a:ext cx="6309360" cy="868680"/>
          </a:xfrm>
          <a:prstGeom prst="roundRect">
            <a:avLst>
              <a:gd name="adj" fmla="val 14736"/>
            </a:avLst>
          </a:prstGeom>
          <a:solidFill>
            <a:srgbClr val="14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6355080" y="4507992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400" b="1" lang="he-IL">
                <a:solidFill>
                  <a:srgbClr val="00CCD7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1" name="TextBox 20">
            <a:hlinkClick action="ppaction://hlinksldjump" r:id="rId7"/>
          </p:cNvPr>
          <p:cNvSpPr txBox="1"/>
          <p:nvPr/>
        </p:nvSpPr>
        <p:spPr>
          <a:xfrm>
            <a:off x="1371600" y="450799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300" b="0" lang="he-IL">
                <a:solidFill>
                  <a:srgbClr val="FFFFFF"/>
                </a:solidFill>
                <a:latin typeface="Arial"/>
                <a:cs typeface="Arial"/>
              </a:rPr>
              <a:t>גרף פעילות</a:t>
            </a:r>
          </a:p>
        </p:txBody>
      </p:sp>
      <p:sp>
        <p:nvSpPr>
          <p:cNvPr id="22" name="Rounded Rectangle 21">
            <a:hlinkClick action="ppaction://hlinksldjump" r:id="rId8"/>
          </p:cNvPr>
          <p:cNvSpPr/>
          <p:nvPr/>
        </p:nvSpPr>
        <p:spPr>
          <a:xfrm>
            <a:off x="1143000" y="5541264"/>
            <a:ext cx="6309360" cy="868680"/>
          </a:xfrm>
          <a:prstGeom prst="roundRect">
            <a:avLst>
              <a:gd name="adj" fmla="val 14736"/>
            </a:avLst>
          </a:prstGeom>
          <a:solidFill>
            <a:srgbClr val="14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>
            <a:hlinkClick action="ppaction://hlinksldjump" r:id="rId8"/>
          </p:cNvPr>
          <p:cNvSpPr txBox="1"/>
          <p:nvPr/>
        </p:nvSpPr>
        <p:spPr>
          <a:xfrm>
            <a:off x="6355080" y="5541264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400" b="1" lang="he-IL">
                <a:solidFill>
                  <a:srgbClr val="00CCD7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4" name="TextBox 23">
            <a:hlinkClick action="ppaction://hlinksldjump" r:id="rId8"/>
          </p:cNvPr>
          <p:cNvSpPr txBox="1"/>
          <p:nvPr/>
        </p:nvSpPr>
        <p:spPr>
          <a:xfrm>
            <a:off x="1371600" y="5541264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300" b="0" lang="he-IL">
                <a:solidFill>
                  <a:srgbClr val="FFFFFF"/>
                </a:solidFill>
                <a:latin typeface="Arial"/>
                <a:cs typeface="Arial"/>
              </a:rPr>
              <a:t>בקרת משימות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1143000" y="6574536"/>
            <a:ext cx="6309360" cy="868680"/>
          </a:xfrm>
          <a:prstGeom prst="roundRect">
            <a:avLst>
              <a:gd name="adj" fmla="val 14736"/>
            </a:avLst>
          </a:prstGeom>
          <a:solidFill>
            <a:srgbClr val="14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>
            <a:hlinkClick action="ppaction://hlinksldjump" r:id="rId4"/>
          </p:cNvPr>
          <p:cNvSpPr txBox="1"/>
          <p:nvPr/>
        </p:nvSpPr>
        <p:spPr>
          <a:xfrm>
            <a:off x="6355080" y="6574536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400" b="1" lang="he-IL">
                <a:solidFill>
                  <a:srgbClr val="00CCD7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7" name="TextBox 26">
            <a:hlinkClick action="ppaction://hlinksldjump" r:id="rId4"/>
          </p:cNvPr>
          <p:cNvSpPr txBox="1"/>
          <p:nvPr/>
        </p:nvSpPr>
        <p:spPr>
          <a:xfrm>
            <a:off x="1371600" y="6574536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300" b="0" lang="he-IL">
                <a:solidFill>
                  <a:srgbClr val="FFFFFF"/>
                </a:solidFill>
                <a:latin typeface="Arial"/>
                <a:cs typeface="Arial"/>
              </a:rPr>
              <a:t>דשבורד הפניות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1143000" y="7607808"/>
            <a:ext cx="6309360" cy="868680"/>
          </a:xfrm>
          <a:prstGeom prst="roundRect">
            <a:avLst>
              <a:gd name="adj" fmla="val 14736"/>
            </a:avLst>
          </a:prstGeom>
          <a:solidFill>
            <a:srgbClr val="14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>
            <a:hlinkClick action="ppaction://hlinksldjump" r:id="rId9"/>
          </p:cNvPr>
          <p:cNvSpPr txBox="1"/>
          <p:nvPr/>
        </p:nvSpPr>
        <p:spPr>
          <a:xfrm>
            <a:off x="6355080" y="7607808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400" b="1" lang="he-IL">
                <a:solidFill>
                  <a:srgbClr val="00CCD7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1371600" y="7607808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300" b="0" lang="he-IL">
                <a:solidFill>
                  <a:srgbClr val="FFFFFF"/>
                </a:solidFill>
                <a:latin typeface="Arial"/>
                <a:cs typeface="Arial"/>
              </a:rPr>
              <a:t>דגשים לחודש הקרוב</a:t>
            </a:r>
          </a:p>
        </p:txBody>
      </p:sp>
      <p:sp>
        <p:nvSpPr>
          <p:cNvPr id="31" name="Rounded Rectangle 30">
            <a:hlinkClick action="ppaction://hlinksldjump" r:id="rId10"/>
          </p:cNvPr>
          <p:cNvSpPr/>
          <p:nvPr/>
        </p:nvSpPr>
        <p:spPr>
          <a:xfrm>
            <a:off x="1143000" y="8641080"/>
            <a:ext cx="6309360" cy="868680"/>
          </a:xfrm>
          <a:prstGeom prst="roundRect">
            <a:avLst>
              <a:gd name="adj" fmla="val 14736"/>
            </a:avLst>
          </a:prstGeom>
          <a:solidFill>
            <a:srgbClr val="14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6355080" y="8641080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400" b="1" lang="he-IL">
                <a:solidFill>
                  <a:srgbClr val="00CCD7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33" name="TextBox 32">
            <a:hlinkClick action="ppaction://hlinksldjump" r:id="rId10"/>
          </p:cNvPr>
          <p:cNvSpPr txBox="1"/>
          <p:nvPr/>
        </p:nvSpPr>
        <p:spPr>
          <a:xfrm>
            <a:off x="1371600" y="8641080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300" b="0" lang="he-IL">
                <a:solidFill>
                  <a:srgbClr val="FFFFFF"/>
                </a:solidFill>
                <a:latin typeface="Arial"/>
                <a:cs typeface="Arial"/>
              </a:rPr>
              <a:t>קמפיין ונצואלה</a:t>
            </a:r>
          </a:p>
        </p:txBody>
      </p:sp>
      <p:sp>
        <p:nvSpPr>
          <p:cNvPr id="34" name="Rounded Rectangle 33">
            <a:hlinkClick action="ppaction://hlinksldjump" r:id="rId11"/>
          </p:cNvPr>
          <p:cNvSpPr/>
          <p:nvPr/>
        </p:nvSpPr>
        <p:spPr>
          <a:xfrm>
            <a:off x="1143000" y="9674352"/>
            <a:ext cx="6309360" cy="868680"/>
          </a:xfrm>
          <a:prstGeom prst="roundRect">
            <a:avLst>
              <a:gd name="adj" fmla="val 14736"/>
            </a:avLst>
          </a:prstGeom>
          <a:solidFill>
            <a:srgbClr val="14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>
            <a:hlinkClick action="ppaction://hlinksldjump" r:id="rId11"/>
          </p:cNvPr>
          <p:cNvSpPr txBox="1"/>
          <p:nvPr/>
        </p:nvSpPr>
        <p:spPr>
          <a:xfrm>
            <a:off x="6355080" y="9674352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400" b="1" lang="he-IL">
                <a:solidFill>
                  <a:srgbClr val="00CCD7"/>
                </a:solidFill>
                <a:latin typeface="Arial"/>
                <a:cs typeface="Arial"/>
              </a:rPr>
              <a:t>07</a:t>
            </a:r>
          </a:p>
        </p:txBody>
      </p:sp>
      <p:sp>
        <p:nvSpPr>
          <p:cNvPr id="36" name="TextBox 35">
            <a:hlinkClick action="ppaction://hlinksldjump" r:id="rId11"/>
          </p:cNvPr>
          <p:cNvSpPr txBox="1"/>
          <p:nvPr/>
        </p:nvSpPr>
        <p:spPr>
          <a:xfrm>
            <a:off x="1371600" y="967435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300" b="0" lang="he-IL">
                <a:solidFill>
                  <a:srgbClr val="FFFFFF"/>
                </a:solidFill>
                <a:latin typeface="Arial"/>
                <a:cs typeface="Arial"/>
              </a:rPr>
              <a:t>מפת האיומים</a:t>
            </a:r>
          </a:p>
        </p:txBody>
      </p:sp>
      <p:sp>
        <p:nvSpPr>
          <p:cNvPr id="37" name="Rounded Rectangle 36">
            <a:hlinkClick action="ppaction://hlinksldjump" r:id="rId12"/>
          </p:cNvPr>
          <p:cNvSpPr/>
          <p:nvPr/>
        </p:nvSpPr>
        <p:spPr>
          <a:xfrm>
            <a:off x="1143000" y="10707624"/>
            <a:ext cx="6309360" cy="868680"/>
          </a:xfrm>
          <a:prstGeom prst="roundRect">
            <a:avLst>
              <a:gd name="adj" fmla="val 14736"/>
            </a:avLst>
          </a:prstGeom>
          <a:solidFill>
            <a:srgbClr val="14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6355080" y="10707624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400" b="1" lang="he-IL">
                <a:solidFill>
                  <a:srgbClr val="00CCD7"/>
                </a:solidFill>
                <a:latin typeface="Arial"/>
                <a:cs typeface="Arial"/>
              </a:rPr>
              <a:t>08</a:t>
            </a:r>
          </a:p>
        </p:txBody>
      </p:sp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1371600" y="10707624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300" b="0" lang="he-IL">
                <a:solidFill>
                  <a:srgbClr val="FFFFFF"/>
                </a:solidFill>
                <a:latin typeface="Arial"/>
                <a:cs typeface="Arial"/>
              </a:rPr>
              <a:t>התייחסות וסיכום</a:t>
            </a:r>
          </a:p>
        </p:txBody>
      </p:sp>
      <p:sp>
        <p:nvSpPr>
          <p:cNvPr id="40" name="Rounded Rectangle 39">
            <a:hlinkClick action="ppaction://hlinksldjump" r:id="rId8"/>
          </p:cNvPr>
          <p:cNvSpPr/>
          <p:nvPr/>
        </p:nvSpPr>
        <p:spPr>
          <a:xfrm>
            <a:off x="16032632" y="2148840"/>
            <a:ext cx="7528712" cy="493776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>
            <a:hlinkClick action="ppaction://hlinksldjump" r:id="rId8"/>
          </p:cNvPr>
          <p:cNvSpPr/>
          <p:nvPr/>
        </p:nvSpPr>
        <p:spPr>
          <a:xfrm>
            <a:off x="22144025" y="2560320"/>
            <a:ext cx="1005840" cy="10058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list_c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395485" y="2811780"/>
            <a:ext cx="502920" cy="502920"/>
          </a:xfrm>
          <a:prstGeom prst="rect">
            <a:avLst/>
          </a:prstGeom>
        </p:spPr>
      </p:pic>
      <p:sp>
        <p:nvSpPr>
          <p:cNvPr id="43" name="TextBox 42">
            <a:hlinkClick action="ppaction://hlinksldjump" r:id="rId8"/>
          </p:cNvPr>
          <p:cNvSpPr txBox="1"/>
          <p:nvPr/>
        </p:nvSpPr>
        <p:spPr>
          <a:xfrm>
            <a:off x="16489832" y="2560320"/>
            <a:ext cx="5425592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1" lang="he-IL">
                <a:solidFill>
                  <a:srgbClr val="0B1B33"/>
                </a:solidFill>
                <a:latin typeface="Arial"/>
                <a:cs typeface="Arial"/>
              </a:rPr>
              <a:t>משימות במעקב מדיון קודם</a:t>
            </a:r>
          </a:p>
        </p:txBody>
      </p:sp>
      <p:sp>
        <p:nvSpPr>
          <p:cNvPr id="44" name="TextBox 43">
            <a:hlinkClick action="ppaction://hlinksldjump" r:id="rId8"/>
          </p:cNvPr>
          <p:cNvSpPr txBox="1"/>
          <p:nvPr/>
        </p:nvSpPr>
        <p:spPr>
          <a:xfrm>
            <a:off x="16489832" y="3566160"/>
            <a:ext cx="6614312" cy="182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1000" b="1" lang="he-IL">
                <a:solidFill>
                  <a:srgbClr val="0B1F44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45" name="Rounded Rectangle 44">
            <a:hlinkClick action="ppaction://hlinksldjump" r:id="rId7"/>
          </p:cNvPr>
          <p:cNvSpPr/>
          <p:nvPr/>
        </p:nvSpPr>
        <p:spPr>
          <a:xfrm>
            <a:off x="8138160" y="2148840"/>
            <a:ext cx="7528712" cy="493776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>
            <a:hlinkClick action="ppaction://hlinksldjump" r:id="rId7"/>
          </p:cNvPr>
          <p:cNvSpPr/>
          <p:nvPr/>
        </p:nvSpPr>
        <p:spPr>
          <a:xfrm>
            <a:off x="14249552" y="2560320"/>
            <a:ext cx="1005840" cy="10058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activity_c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501012" y="2811780"/>
            <a:ext cx="502920" cy="502920"/>
          </a:xfrm>
          <a:prstGeom prst="rect">
            <a:avLst/>
          </a:prstGeom>
        </p:spPr>
      </p:pic>
      <p:sp>
        <p:nvSpPr>
          <p:cNvPr id="48" name="TextBox 47">
            <a:hlinkClick action="ppaction://hlinksldjump" r:id="rId7"/>
          </p:cNvPr>
          <p:cNvSpPr txBox="1"/>
          <p:nvPr/>
        </p:nvSpPr>
        <p:spPr>
          <a:xfrm>
            <a:off x="8595360" y="2560320"/>
            <a:ext cx="5425592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1" lang="he-IL">
                <a:solidFill>
                  <a:srgbClr val="0B1B33"/>
                </a:solidFill>
                <a:latin typeface="Arial"/>
                <a:cs typeface="Arial"/>
              </a:rPr>
              <a:t>עדכונים בגרף הפעילות</a:t>
            </a:r>
          </a:p>
        </p:txBody>
      </p:sp>
      <p:sp>
        <p:nvSpPr>
          <p:cNvPr id="49" name="TextBox 48">
            <a:hlinkClick action="ppaction://hlinksldjump" r:id="rId7"/>
          </p:cNvPr>
          <p:cNvSpPr txBox="1"/>
          <p:nvPr/>
        </p:nvSpPr>
        <p:spPr>
          <a:xfrm>
            <a:off x="8595360" y="3566160"/>
            <a:ext cx="6614312" cy="182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1000" b="1" lang="he-IL">
                <a:solidFill>
                  <a:srgbClr val="0B1F44"/>
                </a:solidFill>
                <a:latin typeface="Arial"/>
                <a:cs typeface="Arial"/>
              </a:rPr>
              <a:t>16</a:t>
            </a:r>
          </a:p>
        </p:txBody>
      </p:sp>
      <p:sp>
        <p:nvSpPr>
          <p:cNvPr id="50" name="TextBox 49">
            <a:hlinkClick action="ppaction://hlinksldjump" r:id="rId7"/>
          </p:cNvPr>
          <p:cNvSpPr txBox="1"/>
          <p:nvPr/>
        </p:nvSpPr>
        <p:spPr>
          <a:xfrm>
            <a:off x="8595360" y="5486400"/>
            <a:ext cx="661431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0" lang="he-IL">
                <a:solidFill>
                  <a:srgbClr val="5B6B82"/>
                </a:solidFill>
                <a:latin typeface="Arial"/>
                <a:cs typeface="Arial"/>
              </a:rPr>
              <a:t>6 חדשות  ·  6 הוזזו  ·  3 בוטלו</a:t>
            </a:r>
          </a:p>
        </p:txBody>
      </p:sp>
      <p:sp>
        <p:nvSpPr>
          <p:cNvPr id="51" name="Rounded Rectangle 50">
            <a:hlinkClick action="ppaction://hlinksldjump" r:id="rId15"/>
          </p:cNvPr>
          <p:cNvSpPr/>
          <p:nvPr/>
        </p:nvSpPr>
        <p:spPr>
          <a:xfrm>
            <a:off x="16032632" y="7452360"/>
            <a:ext cx="7528712" cy="493776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>
            <a:hlinkClick action="ppaction://hlinksldjump" r:id="rId15"/>
          </p:cNvPr>
          <p:cNvSpPr/>
          <p:nvPr/>
        </p:nvSpPr>
        <p:spPr>
          <a:xfrm>
            <a:off x="22144025" y="7863840"/>
            <a:ext cx="1005840" cy="10058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3" name="Picture 52" descr="clip_c.png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395485" y="8115300"/>
            <a:ext cx="502920" cy="502920"/>
          </a:xfrm>
          <a:prstGeom prst="rect">
            <a:avLst/>
          </a:prstGeom>
        </p:spPr>
      </p:pic>
      <p:sp>
        <p:nvSpPr>
          <p:cNvPr id="54" name="TextBox 53">
            <a:hlinkClick action="ppaction://hlinksldjump" r:id="rId15"/>
          </p:cNvPr>
          <p:cNvSpPr txBox="1"/>
          <p:nvPr/>
        </p:nvSpPr>
        <p:spPr>
          <a:xfrm>
            <a:off x="16489832" y="7863840"/>
            <a:ext cx="5425592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1" lang="he-IL">
                <a:solidFill>
                  <a:srgbClr val="0B1B33"/>
                </a:solidFill>
                <a:latin typeface="Arial"/>
                <a:cs typeface="Arial"/>
              </a:rPr>
              <a:t>עמ"טים בתהליך</a:t>
            </a:r>
          </a:p>
        </p:txBody>
      </p:sp>
      <p:sp>
        <p:nvSpPr>
          <p:cNvPr id="55" name="TextBox 54">
            <a:hlinkClick action="ppaction://hlinksldjump" r:id="rId15"/>
          </p:cNvPr>
          <p:cNvSpPr txBox="1"/>
          <p:nvPr/>
        </p:nvSpPr>
        <p:spPr>
          <a:xfrm>
            <a:off x="16489832" y="8869680"/>
            <a:ext cx="6614312" cy="182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1000" b="1" lang="he-IL">
                <a:solidFill>
                  <a:srgbClr val="0B1F44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56" name="TextBox 55">
            <a:hlinkClick action="ppaction://hlinksldjump" r:id="rId15"/>
          </p:cNvPr>
          <p:cNvSpPr txBox="1"/>
          <p:nvPr/>
        </p:nvSpPr>
        <p:spPr>
          <a:xfrm>
            <a:off x="16489832" y="10789920"/>
            <a:ext cx="661431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0" lang="he-IL">
                <a:solidFill>
                  <a:srgbClr val="5B6B82"/>
                </a:solidFill>
                <a:latin typeface="Arial"/>
                <a:cs typeface="Arial"/>
              </a:rPr>
              <a:t>מלאים אסטרטגיים  ·  יסודות הארי  ·  מערך המיל'  ·  גבולות גזרה</a:t>
            </a:r>
          </a:p>
        </p:txBody>
      </p:sp>
      <p:sp>
        <p:nvSpPr>
          <p:cNvPr id="57" name="Rounded Rectangle 56">
            <a:hlinkClick action="ppaction://hlinksldjump" r:id="rId17"/>
          </p:cNvPr>
          <p:cNvSpPr/>
          <p:nvPr/>
        </p:nvSpPr>
        <p:spPr>
          <a:xfrm>
            <a:off x="8138160" y="7452360"/>
            <a:ext cx="7528712" cy="493776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DDE4EE"/>
            </a:solidFill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>
            <a:hlinkClick action="ppaction://hlinksldjump" r:id="rId17"/>
          </p:cNvPr>
          <p:cNvSpPr/>
          <p:nvPr/>
        </p:nvSpPr>
        <p:spPr>
          <a:xfrm>
            <a:off x="14249552" y="7863840"/>
            <a:ext cx="1005840" cy="10058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9" name="Picture 58" descr="audit_c.png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501012" y="8115300"/>
            <a:ext cx="502920" cy="502920"/>
          </a:xfrm>
          <a:prstGeom prst="rect">
            <a:avLst/>
          </a:prstGeom>
        </p:spPr>
      </p:pic>
      <p:sp>
        <p:nvSpPr>
          <p:cNvPr id="60" name="TextBox 59">
            <a:hlinkClick action="ppaction://hlinksldjump" r:id="rId17"/>
          </p:cNvPr>
          <p:cNvSpPr txBox="1"/>
          <p:nvPr/>
        </p:nvSpPr>
        <p:spPr>
          <a:xfrm>
            <a:off x="8595360" y="7863840"/>
            <a:ext cx="5425592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1" lang="he-IL">
                <a:solidFill>
                  <a:srgbClr val="0B1B33"/>
                </a:solidFill>
                <a:latin typeface="Arial"/>
                <a:cs typeface="Arial"/>
              </a:rPr>
              <a:t>נושאי ביקורת – מבקר המדינה</a:t>
            </a:r>
          </a:p>
        </p:txBody>
      </p:sp>
      <p:sp>
        <p:nvSpPr>
          <p:cNvPr id="61" name="TextBox 60">
            <a:hlinkClick action="ppaction://hlinksldjump" r:id="rId17"/>
          </p:cNvPr>
          <p:cNvSpPr txBox="1"/>
          <p:nvPr/>
        </p:nvSpPr>
        <p:spPr>
          <a:xfrm>
            <a:off x="8595360" y="8869680"/>
            <a:ext cx="6614312" cy="182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1000" b="1" lang="he-IL">
                <a:solidFill>
                  <a:srgbClr val="0B1F44"/>
                </a:solidFill>
                <a:latin typeface="Arial"/>
                <a:cs typeface="Arial"/>
              </a:rPr>
              <a:t>31</a:t>
            </a:r>
          </a:p>
        </p:txBody>
      </p:sp>
      <p:sp>
        <p:nvSpPr>
          <p:cNvPr id="62" name="TextBox 61">
            <a:hlinkClick action="ppaction://hlinksldjump" r:id="rId17"/>
          </p:cNvPr>
          <p:cNvSpPr txBox="1"/>
          <p:nvPr/>
        </p:nvSpPr>
        <p:spPr>
          <a:xfrm>
            <a:off x="8595360" y="10789920"/>
            <a:ext cx="661431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 rtl="1"/>
            <a:r>
              <a:rPr sz="2200" b="0" lang="he-IL">
                <a:solidFill>
                  <a:srgbClr val="5B6B82"/>
                </a:solidFill>
                <a:latin typeface="Arial"/>
                <a:cs typeface="Arial"/>
              </a:rPr>
              <a:t>25 טיוטות  ·  16 דוחות סופיים  ·  15 עם משימונים לרח"ל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0926806" y="5577840"/>
            <a:ext cx="2149907" cy="2743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18722035" y="5577840"/>
            <a:ext cx="2149907" cy="274320"/>
          </a:xfrm>
          <a:prstGeom prst="roundRect">
            <a:avLst>
              <a:gd name="adj" fmla="val 50000"/>
            </a:avLst>
          </a:prstGeom>
          <a:solidFill>
            <a:srgbClr val="00C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16517264" y="5577840"/>
            <a:ext cx="2149907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22848113" y="6144768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20360945" y="6035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3 הושלם</a:t>
            </a:r>
          </a:p>
        </p:txBody>
      </p:sp>
      <p:sp>
        <p:nvSpPr>
          <p:cNvPr id="68" name="Oval 67"/>
          <p:cNvSpPr/>
          <p:nvPr/>
        </p:nvSpPr>
        <p:spPr>
          <a:xfrm>
            <a:off x="20643342" y="6144768"/>
            <a:ext cx="256032" cy="256032"/>
          </a:xfrm>
          <a:prstGeom prst="ellipse">
            <a:avLst/>
          </a:prstGeom>
          <a:solidFill>
            <a:srgbClr val="00C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8156174" y="6035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3 מוצג היום</a:t>
            </a:r>
          </a:p>
        </p:txBody>
      </p:sp>
      <p:sp>
        <p:nvSpPr>
          <p:cNvPr id="70" name="Oval 69"/>
          <p:cNvSpPr/>
          <p:nvPr/>
        </p:nvSpPr>
        <p:spPr>
          <a:xfrm>
            <a:off x="18438571" y="6144768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5951403" y="6035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5B6B82"/>
                </a:solidFill>
                <a:latin typeface="Arial"/>
                <a:cs typeface="Arial"/>
              </a:rPr>
              <a:t>3 בתהליך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rk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305" cy="1371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812305" y="685800"/>
            <a:ext cx="3749040" cy="16002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>
            <a:outerShdw blurRad="201168" dist="54864" dir="5400000" algn="t" rotWithShape="0">
              <a:srgbClr val="0B1F44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3785" y="868680"/>
            <a:ext cx="1234440" cy="1234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2545" y="868680"/>
            <a:ext cx="934044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2926080"/>
            <a:ext cx="20818145" cy="7863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ct val="95000"/>
              </a:lnSpc>
              <a:spcAft>
                <a:spcPts val="1400"/>
              </a:spcAft>
            </a:pPr>
            <a:r>
              <a:rPr sz="3000" b="1" lang="he-IL">
                <a:solidFill>
                  <a:srgbClr val="00CCD7"/>
                </a:solidFill>
                <a:latin typeface="Arial"/>
                <a:cs typeface="Arial"/>
              </a:rPr>
              <a:t>נספחים</a:t>
            </a:r>
          </a:p>
          <a:p>
            <a:pPr algn="r" rtl="1">
              <a:lnSpc>
                <a:spcPct val="95000"/>
              </a:lnSpc>
              <a:spcAft>
                <a:spcPts val="1800"/>
              </a:spcAft>
            </a:pPr>
            <a:r>
              <a:rPr sz="8800" b="1" lang="he-IL">
                <a:solidFill>
                  <a:srgbClr val="FFFFFF"/>
                </a:solidFill>
                <a:latin typeface="Arial"/>
                <a:cs typeface="Arial"/>
              </a:rPr>
              <a:t>חומרי רקע לפי נושא</a:t>
            </a:r>
          </a:p>
          <a:p>
            <a:pPr algn="r" rtl="1">
              <a:lnSpc>
                <a:spcPct val="95000"/>
              </a:lnSpc>
            </a:pPr>
            <a:r>
              <a:rPr sz="3600" b="0" lang="he-IL">
                <a:solidFill>
                  <a:srgbClr val="CFE9F2"/>
                </a:solidFill>
                <a:latin typeface="Arial"/>
                <a:cs typeface="Arial"/>
              </a:rPr>
              <a:t>13 נושאים  ·  ניווט מלא מדשבורד הפניות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32545" y="1281988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000" b="1" lang="he-IL">
                <a:solidFill>
                  <a:srgbClr val="FFFFFF"/>
                </a:solidFill>
                <a:latin typeface="Arial"/>
                <a:cs typeface="Arial"/>
              </a:rPr>
              <a:t>בלמ"ס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819888"/>
            <a:ext cx="1322862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רשות חירום לאומית  |  חטיבת תכנון  |  סיכום חודש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2838176"/>
            <a:ext cx="868680" cy="512064"/>
          </a:xfrm>
          <a:prstGeom prst="roundRect">
            <a:avLst>
              <a:gd name="adj" fmla="val 21428"/>
            </a:avLst>
          </a:prstGeom>
          <a:solidFill>
            <a:srgbClr val="0092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2838176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/>
            <a:fld id="{B6F15528-21DE-4FAA-801E-634DDDAF4B2B}" type="slidenum">
              <a:rPr lang="he-IL" sz="1800" b="1">
                <a:solidFill>
                  <a:srgbClr val="FFFFFF"/>
                </a:solidFill>
                <a:latin typeface="Arial"/>
                <a:cs typeface="Arial"/>
              </a:rPr>
              <a:t>‹#›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1874520" y="1281988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rtl="0"/>
            <a:r>
              <a:rPr sz="1800" b="0" lang="he-IL">
                <a:solidFill>
                  <a:srgbClr val="A9BCD3"/>
                </a:solidFill>
                <a:latin typeface="Arial"/>
                <a:cs typeface="Arial"/>
              </a:rPr>
              <a:t>ספטמבר 2026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18806465" y="9966960"/>
            <a:ext cx="4754880" cy="914400"/>
          </a:xfrm>
          <a:prstGeom prst="roundRect">
            <a:avLst>
              <a:gd name="adj" fmla="val 50000"/>
            </a:avLst>
          </a:prstGeom>
          <a:solidFill>
            <a:srgbClr val="00C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dash_n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2665" y="10168128"/>
            <a:ext cx="512064" cy="512064"/>
          </a:xfrm>
          <a:prstGeom prst="rect">
            <a:avLst/>
          </a:prstGeom>
        </p:spPr>
      </p:pic>
      <p:sp>
        <p:nvSpPr>
          <p:cNvPr id="14" name="TextBox 13">
            <a:hlinkClick action="ppaction://hlinksldjump" r:id="rId5"/>
          </p:cNvPr>
          <p:cNvSpPr txBox="1"/>
          <p:nvPr/>
        </p:nvSpPr>
        <p:spPr>
          <a:xfrm>
            <a:off x="19080785" y="996696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/>
            <a:r>
              <a:rPr sz="2600" b="1" lang="he-IL">
                <a:solidFill>
                  <a:srgbClr val="050A19"/>
                </a:solidFill>
                <a:latin typeface="Arial"/>
                <a:cs typeface="Arial"/>
              </a:rPr>
              <a:t>מעבר לדשבורד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usiness Report">
      <a:dk1>
        <a:srgbClr val="999999"/>
      </a:dk1>
      <a:lt1>
        <a:sysClr val="window" lastClr="FFFFFF"/>
      </a:lt1>
      <a:dk2>
        <a:srgbClr val="050A19"/>
      </a:dk2>
      <a:lt2>
        <a:srgbClr val="FFFFFF"/>
      </a:lt2>
      <a:accent1>
        <a:srgbClr val="00CCD7"/>
      </a:accent1>
      <a:accent2>
        <a:srgbClr val="00AFD2"/>
      </a:accent2>
      <a:accent3>
        <a:srgbClr val="0092C3"/>
      </a:accent3>
      <a:accent4>
        <a:srgbClr val="006DA4"/>
      </a:accent4>
      <a:accent5>
        <a:srgbClr val="005986"/>
      </a:accent5>
      <a:accent6>
        <a:srgbClr val="0048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Aptos Display" panose="02110004020202020204"/>
      <a:cs typeface="Arial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Aptos Narrow" panose="02110004020202020204"/>
      <a:cs typeface="Arial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Aptos Display" panose="02110004020202020204"/>
      <a:cs typeface="Arial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Aptos Narrow" panose="02110004020202020204"/>
      <a:cs typeface="Arial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018E">
    <a:dk1>
      <a:srgbClr val="000000"/>
    </a:dk1>
    <a:lt1>
      <a:srgbClr val="FFFFFF"/>
    </a:lt1>
    <a:dk2>
      <a:srgbClr val="3B4248"/>
    </a:dk2>
    <a:lt2>
      <a:srgbClr val="FFFFFF"/>
    </a:lt2>
    <a:accent1>
      <a:srgbClr val="EC5A36"/>
    </a:accent1>
    <a:accent2>
      <a:srgbClr val="D6E8F6"/>
    </a:accent2>
    <a:accent3>
      <a:srgbClr val="C4D2E6"/>
    </a:accent3>
    <a:accent4>
      <a:srgbClr val="F6F8FA"/>
    </a:accent4>
    <a:accent5>
      <a:srgbClr val="D9D9D9"/>
    </a:accent5>
    <a:accent6>
      <a:srgbClr val="B4B4B4"/>
    </a:accent6>
    <a:hlink>
      <a:srgbClr val="EC5A36"/>
    </a:hlink>
    <a:folHlink>
      <a:srgbClr val="EC5A36"/>
    </a:folHlink>
  </a:clrScheme>
  <a:fontScheme name="White">
    <a:majorFont>
      <a:latin typeface="DM Sans Regular"/>
      <a:ea typeface="DM Sans Regular"/>
      <a:cs typeface="DM Sans Regular"/>
    </a:majorFont>
    <a:minorFont>
      <a:latin typeface="DM Sans Regular"/>
      <a:ea typeface="DM Sans Regular"/>
      <a:cs typeface="DM Sans Regular"/>
    </a:minorFont>
  </a:fontScheme>
  <a:fmtScheme name="Whit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impleTags xmlns="3d9afb41-83e6-46c0-a6a5-93ad7375ddc5" xsi:nil="true"/>
    <NatavRecipeints xmlns="3d9afb41-83e6-46c0-a6a5-93ad7375ddc5" xsi:nil="true"/>
    <Classification xmlns="3d9afb41-83e6-46c0-a6a5-93ad7375ddc5">רשום בגוף המסמך</Classification>
    <Sensitivity xmlns="3d9afb41-83e6-46c0-a6a5-93ad7375ddc5">ללא</Sensitivity>
    <AuditLog xmlns="3d9afb41-83e6-46c0-a6a5-93ad7375ddc5" xsi:nil="true"/>
    <DocumentDate xmlns="3d9afb41-83e6-46c0-a6a5-93ad7375ddc5" xsi:nil="true"/>
    <DocumentStatus xmlns="3d9afb41-83e6-46c0-a6a5-93ad7375ddc5">טיוטא</DocumentStatus>
    <SendTo xmlns="3d9afb41-83e6-46c0-a6a5-93ad7375ddc5" xsi:nil="true"/>
    <Simouhin xmlns="3d9afb41-83e6-46c0-a6a5-93ad7375ddc5">י-רחל-000744-040626</Simouhin>
    <SendTransfer xmlns="3d9afb41-83e6-46c0-a6a5-93ad7375ddc5" xsi:nil="true"/>
    <Signature xmlns="3d9afb41-83e6-46c0-a6a5-93ad7375ddc5" xsi:nil="true"/>
    <TransferInfo xmlns="3d9afb41-83e6-46c0-a6a5-93ad7375ddc5" xsi:nil="true"/>
    <DocumentPriority xmlns="3d9afb41-83e6-46c0-a6a5-93ad7375ddc5">רגיל</DocumentPriority>
    <SendCc xmlns="3d9afb41-83e6-46c0-a6a5-93ad7375ddc5" xsi:nil="true"/>
    <_dlc_DocId xmlns="d7e37371-a730-490a-bb74-3121895bdb8a">AGAPIMG13-1416691235-5148</_dlc_DocId>
    <_dlc_DocIdUrl xmlns="d7e37371-a730-490a-bb74-3121895bdb8a">
      <Url>http://gsp16p-agapim/sites/g13/Docs/_layouts/15/DocIdRedir.aspx?ID=AGAPIMG13-1416691235-5148</Url>
      <Description>AGAPIMG13-1416691235-5148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יוצא - מסמך רשמי" ma:contentTypeID="0x01010079C0079A5D954343B46314414ADBF73400834914E68C999446BC2AC1A2A710975B00B70B211112CA184A941E8BADF1BD3ADD" ma:contentTypeVersion="4" ma:contentTypeDescription="" ma:contentTypeScope="" ma:versionID="a9b0531f4f4574143db7b066f08adff6">
  <xsd:schema xmlns:xsd="http://www.w3.org/2001/XMLSchema" xmlns:xs="http://www.w3.org/2001/XMLSchema" xmlns:p="http://schemas.microsoft.com/office/2006/metadata/properties" xmlns:ns2="3d9afb41-83e6-46c0-a6a5-93ad7375ddc5" xmlns:ns3="d7e37371-a730-490a-bb74-3121895bdb8a" targetNamespace="http://schemas.microsoft.com/office/2006/metadata/properties" ma:root="true" ma:fieldsID="82e9bc03b14e5dc83afa7f8b70a4c167" ns2:_="" ns3:_="">
    <xsd:import namespace="3d9afb41-83e6-46c0-a6a5-93ad7375ddc5"/>
    <xsd:import namespace="d7e37371-a730-490a-bb74-3121895bdb8a"/>
    <xsd:element name="properties">
      <xsd:complexType>
        <xsd:sequence>
          <xsd:element name="documentManagement">
            <xsd:complexType>
              <xsd:all>
                <xsd:element ref="ns2:DocumentStatus" minOccurs="0"/>
                <xsd:element ref="ns2:DocumentDate" minOccurs="0"/>
                <xsd:element ref="ns2:Signature" minOccurs="0"/>
                <xsd:element ref="ns2:Simouhin" minOccurs="0"/>
                <xsd:element ref="ns2:Classification" minOccurs="0"/>
                <xsd:element ref="ns2:Sensitivity" minOccurs="0"/>
                <xsd:element ref="ns2:DocumentPriority" minOccurs="0"/>
                <xsd:element ref="ns2:SimpleTags" minOccurs="0"/>
                <xsd:element ref="ns2:SendTo" minOccurs="0"/>
                <xsd:element ref="ns2:SendCc" minOccurs="0"/>
                <xsd:element ref="ns2:SendTransfer" minOccurs="0"/>
                <xsd:element ref="ns2:AuditLog" minOccurs="0"/>
                <xsd:element ref="ns2:TransferInfo" minOccurs="0"/>
                <xsd:element ref="ns2:NatavRecipeints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9afb41-83e6-46c0-a6a5-93ad7375ddc5" elementFormDefault="qualified">
    <xsd:import namespace="http://schemas.microsoft.com/office/2006/documentManagement/types"/>
    <xsd:import namespace="http://schemas.microsoft.com/office/infopath/2007/PartnerControls"/>
    <xsd:element name="DocumentStatus" ma:index="8" nillable="true" ma:displayName="סטטוס המסמך" ma:default="טיוטא" ma:hidden="true" ma:internalName="DocumentStatus" ma:readOnly="false">
      <xsd:simpleType>
        <xsd:restriction base="dms:Choice">
          <xsd:enumeration value="טיוטא"/>
          <xsd:enumeration value="הופץ"/>
        </xsd:restriction>
      </xsd:simpleType>
    </xsd:element>
    <xsd:element name="DocumentDate" ma:index="9" nillable="true" ma:displayName="תאריך מסמך" ma:description="תאריך המסמך" ma:format="DateOnly" ma:internalName="DocumentDate" ma:readOnly="false">
      <xsd:simpleType>
        <xsd:restriction base="dms:DateTime"/>
      </xsd:simpleType>
    </xsd:element>
    <xsd:element name="Signature" ma:index="10" nillable="true" ma:displayName="חותם / מאת" ma:internalName="Signature" ma:readOnly="false">
      <xsd:simpleType>
        <xsd:restriction base="dms:Text"/>
      </xsd:simpleType>
    </xsd:element>
    <xsd:element name="Simouhin" ma:index="11" nillable="true" ma:displayName="סימוכין" ma:indexed="true" ma:internalName="Simouhin" ma:readOnly="false">
      <xsd:simpleType>
        <xsd:restriction base="dms:Unknown"/>
      </xsd:simpleType>
    </xsd:element>
    <xsd:element name="Classification" ma:index="12" nillable="true" ma:displayName="סיווג ביטחוני" ma:default="רשום בגוף המסמך" ma:format="Dropdown" ma:internalName="Classification" ma:readOnly="false">
      <xsd:simpleType>
        <xsd:restriction base="dms:Choice">
          <xsd:enumeration value="בלמ&quot;ס"/>
          <xsd:enumeration value="רשום בגוף המסמך"/>
        </xsd:restriction>
      </xsd:simpleType>
    </xsd:element>
    <xsd:element name="Sensitivity" ma:index="13" nillable="true" ma:displayName="סיווג רגישות" ma:default="ללא" ma:internalName="Sensitivity" ma:readOnly="false">
      <xsd:simpleType>
        <xsd:restriction base="dms:Choice">
          <xsd:enumeration value="ללא"/>
          <xsd:enumeration value="רגיש"/>
          <xsd:enumeration value="רגיש מאוד"/>
        </xsd:restriction>
      </xsd:simpleType>
    </xsd:element>
    <xsd:element name="DocumentPriority" ma:index="14" nillable="true" ma:displayName="עדיפות המסמך" ma:default="רגיל" ma:internalName="DocumentPriority" ma:readOnly="false">
      <xsd:simpleType>
        <xsd:restriction base="dms:Choice">
          <xsd:enumeration value="רגיל"/>
          <xsd:enumeration value="דחוף"/>
          <xsd:enumeration value="בהול"/>
        </xsd:restriction>
      </xsd:simpleType>
    </xsd:element>
    <xsd:element name="SimpleTags" ma:index="15" nillable="true" ma:displayName="תגיות בסיסי" ma:internalName="SimpleTags" ma:readOnly="false">
      <xsd:simpleType>
        <xsd:restriction base="dms:Text"/>
      </xsd:simpleType>
    </xsd:element>
    <xsd:element name="SendTo" ma:index="16" nillable="true" ma:displayName="נמענים לפעולה" ma:hidden="true" ma:internalName="SendTo" ma:readOnly="false">
      <xsd:simpleType>
        <xsd:restriction base="dms:Note"/>
      </xsd:simpleType>
    </xsd:element>
    <xsd:element name="SendCc" ma:index="17" nillable="true" ma:displayName="נמענים לידיעה" ma:hidden="true" ma:internalName="SendCc" ma:readOnly="false">
      <xsd:simpleType>
        <xsd:restriction base="dms:Note"/>
      </xsd:simpleType>
    </xsd:element>
    <xsd:element name="SendTransfer" ma:index="18" nillable="true" ma:displayName="נמענים להעברה לטיפול" ma:hidden="true" ma:internalName="SendTransfer" ma:readOnly="false">
      <xsd:simpleType>
        <xsd:restriction base="dms:Note"/>
      </xsd:simpleType>
    </xsd:element>
    <xsd:element name="AuditLog" ma:index="19" nillable="true" ma:displayName="היסטוריית פעילות" ma:hidden="true" ma:internalName="AuditLog" ma:readOnly="false">
      <xsd:simpleType>
        <xsd:restriction base="dms:Note"/>
      </xsd:simpleType>
    </xsd:element>
    <xsd:element name="TransferInfo" ma:index="20" nillable="true" ma:displayName="מידע הסבה" ma:hidden="true" ma:internalName="TransferInfo" ma:readOnly="false">
      <xsd:simpleType>
        <xsd:restriction base="dms:Note"/>
      </xsd:simpleType>
    </xsd:element>
    <xsd:element name="NatavRecipeints" ma:index="21" nillable="true" ma:displayName="נמעני נתב" ma:hidden="true" ma:internalName="NatavRecipeints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e37371-a730-490a-bb74-3121895bdb8a" elementFormDefault="qualified">
    <xsd:import namespace="http://schemas.microsoft.com/office/2006/documentManagement/types"/>
    <xsd:import namespace="http://schemas.microsoft.com/office/infopath/2007/PartnerControls"/>
    <xsd:element name="_dlc_DocId" ma:index="22" nillable="true" ma:displayName="ערך של מזהה מסמך" ma:description="הערך של מזהה המסמך שהוקצה לפריט זה." ma:internalName="_dlc_DocId" ma:readOnly="true">
      <xsd:simpleType>
        <xsd:restriction base="dms:Text"/>
      </xsd:simpleType>
    </xsd:element>
    <xsd:element name="_dlc_DocIdUrl" ma:index="23" nillable="true" ma:displayName="מזהה מסמך" ma:description="קישור קבוע למסמך זה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799397-79D8-451E-9DBD-90DB0AFEDC6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59D6013E-52BC-4257-9025-30356A19B139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7e37371-a730-490a-bb74-3121895bdb8a"/>
    <ds:schemaRef ds:uri="http://purl.org/dc/terms/"/>
    <ds:schemaRef ds:uri="http://schemas.openxmlformats.org/package/2006/metadata/core-properties"/>
    <ds:schemaRef ds:uri="3d9afb41-83e6-46c0-a6a5-93ad7375ddc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69A8944-D3FE-4076-B9CE-63B97A0157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9afb41-83e6-46c0-a6a5-93ad7375ddc5"/>
    <ds:schemaRef ds:uri="d7e37371-a730-490a-bb74-3121895bdb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395D7C1-B156-4045-A6CA-E359FC1AC5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16439</TotalTime>
  <Words>1483</Words>
  <Application>Microsoft Office PowerPoint</Application>
  <PresentationFormat>מותאם אישית</PresentationFormat>
  <Paragraphs>355</Paragraphs>
  <Slides>44</Slides>
  <Notes>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44</vt:i4>
      </vt:variant>
    </vt:vector>
  </HeadingPairs>
  <TitlesOfParts>
    <vt:vector size="59" baseType="lpstr">
      <vt:lpstr>Arial</vt:lpstr>
      <vt:lpstr>Calibri</vt:lpstr>
      <vt:lpstr>Calibri Light</vt:lpstr>
      <vt:lpstr>David</vt:lpstr>
      <vt:lpstr>DM Sans Medium</vt:lpstr>
      <vt:lpstr>DM Sans Regular</vt:lpstr>
      <vt:lpstr>Heebo Black</vt:lpstr>
      <vt:lpstr>Heebo Medium</vt:lpstr>
      <vt:lpstr>Open Sans</vt:lpstr>
      <vt:lpstr>Open Sans Light</vt:lpstr>
      <vt:lpstr>Roboto</vt:lpstr>
      <vt:lpstr>Segoe UI</vt:lpstr>
      <vt:lpstr>Tahoma</vt:lpstr>
      <vt:lpstr>Wingdings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JafarDesigns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JafarDesigns</dc:creator>
  <cp:lastModifiedBy>chaim edelman</cp:lastModifiedBy>
  <cp:revision>1492</cp:revision>
  <cp:lastPrinted>2026-09-14T09:00:42Z</cp:lastPrinted>
  <dcterms:created xsi:type="dcterms:W3CDTF">2016-06-20T18:47:00Z</dcterms:created>
  <dcterms:modified xsi:type="dcterms:W3CDTF">2026-09-22T08:59:20Z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0x01010079C0079A5D954343B46314414ADBF73400834914E68C999446BC2AC1A2A710975B00B70B211112CA184A941E8BADF1BD3ADD</vt:lpwstr>
  </property>
  <property fmtid="{D5CDD505-2E9C-101B-9397-08002B2CF9AE}" pid="3" name="_dlc_DocIdItemGuid">
    <vt:lpwstr>10051020-ca6f-4c03-87b8-1c14d606165a</vt:lpwstr>
  </property>
</Properties>
</file>